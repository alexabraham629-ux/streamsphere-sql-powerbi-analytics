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drawings/drawing1.xml" ContentType="application/vnd.openxmlformats-officedocument.drawingml.chartshapes+xml"/>
  <Override PartName="/ppt/charts/chart2.xml" ContentType="application/vnd.openxmlformats-officedocument.drawingml.chart+xml"/>
  <Override PartName="/ppt/drawings/drawing2.xml" ContentType="application/vnd.openxmlformats-officedocument.drawingml.chartshapes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drawings/drawing3.xml" ContentType="application/vnd.openxmlformats-officedocument.drawingml.chartshapes+xml"/>
  <Override PartName="/ppt/notesSlides/notesSlide8.xml" ContentType="application/vnd.openxmlformats-officedocument.presentationml.notesSlide+xml"/>
  <Override PartName="/ppt/charts/chart4.xml" ContentType="application/vnd.openxmlformats-officedocument.drawingml.chart+xml"/>
  <Override PartName="/ppt/drawings/drawing4.xml" ContentType="application/vnd.openxmlformats-officedocument.drawingml.chartshape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4AEA001-920E-4B1E-B5AF-CBBEF6BF0CE8}" v="6" dt="2026-05-06T11:25:02.45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634" y="77"/>
      </p:cViewPr>
      <p:guideLst/>
    </p:cSldViewPr>
  </p:slideViewPr>
  <p:notesTextViewPr>
    <p:cViewPr>
      <p:scale>
        <a:sx n="1" d="1"/>
        <a:sy n="1" d="1"/>
      </p:scale>
      <p:origin x="0" y="-12278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 ABRAHAM" userId="5d9bbaeaeb71fe68" providerId="LiveId" clId="{C35844FF-508D-444E-86A7-ACE1A8ECB6A2}"/>
    <pc:docChg chg="custSel modSld">
      <pc:chgData name="ALEX ABRAHAM" userId="5d9bbaeaeb71fe68" providerId="LiveId" clId="{C35844FF-508D-444E-86A7-ACE1A8ECB6A2}" dt="2026-05-06T11:24:12.162" v="23" actId="6549"/>
      <pc:docMkLst>
        <pc:docMk/>
      </pc:docMkLst>
      <pc:sldChg chg="modSp mod">
        <pc:chgData name="ALEX ABRAHAM" userId="5d9bbaeaeb71fe68" providerId="LiveId" clId="{C35844FF-508D-444E-86A7-ACE1A8ECB6A2}" dt="2026-05-06T11:21:26.850" v="0" actId="313"/>
        <pc:sldMkLst>
          <pc:docMk/>
          <pc:sldMk cId="0" sldId="263"/>
        </pc:sldMkLst>
        <pc:spChg chg="mod">
          <ac:chgData name="ALEX ABRAHAM" userId="5d9bbaeaeb71fe68" providerId="LiveId" clId="{C35844FF-508D-444E-86A7-ACE1A8ECB6A2}" dt="2026-05-06T11:21:26.850" v="0" actId="313"/>
          <ac:spMkLst>
            <pc:docMk/>
            <pc:sldMk cId="0" sldId="263"/>
            <ac:spMk id="45" creationId="{00000000-0000-0000-0000-000000000000}"/>
          </ac:spMkLst>
        </pc:spChg>
      </pc:sldChg>
      <pc:sldChg chg="modSp mod">
        <pc:chgData name="ALEX ABRAHAM" userId="5d9bbaeaeb71fe68" providerId="LiveId" clId="{C35844FF-508D-444E-86A7-ACE1A8ECB6A2}" dt="2026-05-06T11:23:09.652" v="22" actId="20577"/>
        <pc:sldMkLst>
          <pc:docMk/>
          <pc:sldMk cId="0" sldId="264"/>
        </pc:sldMkLst>
        <pc:spChg chg="mod">
          <ac:chgData name="ALEX ABRAHAM" userId="5d9bbaeaeb71fe68" providerId="LiveId" clId="{C35844FF-508D-444E-86A7-ACE1A8ECB6A2}" dt="2026-05-06T11:23:09.652" v="22" actId="20577"/>
          <ac:spMkLst>
            <pc:docMk/>
            <pc:sldMk cId="0" sldId="264"/>
            <ac:spMk id="16" creationId="{00000000-0000-0000-0000-000000000000}"/>
          </ac:spMkLst>
        </pc:spChg>
      </pc:sldChg>
      <pc:sldChg chg="modSp mod">
        <pc:chgData name="ALEX ABRAHAM" userId="5d9bbaeaeb71fe68" providerId="LiveId" clId="{C35844FF-508D-444E-86A7-ACE1A8ECB6A2}" dt="2026-05-06T11:24:12.162" v="23" actId="6549"/>
        <pc:sldMkLst>
          <pc:docMk/>
          <pc:sldMk cId="0" sldId="265"/>
        </pc:sldMkLst>
        <pc:spChg chg="mod">
          <ac:chgData name="ALEX ABRAHAM" userId="5d9bbaeaeb71fe68" providerId="LiveId" clId="{C35844FF-508D-444E-86A7-ACE1A8ECB6A2}" dt="2026-05-06T11:24:12.162" v="23" actId="6549"/>
          <ac:spMkLst>
            <pc:docMk/>
            <pc:sldMk cId="0" sldId="265"/>
            <ac:spMk id="30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.xml"/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2.xml"/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3.xml"/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4.xml"/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</a:rPr>
              <a:t>Interaction Breakdown by Action Type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Interactions</c:v>
                </c:pt>
              </c:strCache>
            </c:strRef>
          </c:tx>
          <c:spPr>
            <a:solidFill>
              <a:srgbClr val="6B46C1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E843-436E-96F0-039D6C07BB61}"/>
              </c:ext>
            </c:extLst>
          </c:dPt>
          <c:dPt>
            <c:idx val="1"/>
            <c:invertIfNegative val="0"/>
            <c:bubble3D val="0"/>
            <c:spPr>
              <a:solidFill>
                <a:srgbClr val="00B4C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843-436E-96F0-039D6C07BB61}"/>
              </c:ext>
            </c:extLst>
          </c:dPt>
          <c:dPt>
            <c:idx val="2"/>
            <c:invertIfNegative val="0"/>
            <c:bubble3D val="0"/>
            <c:spPr>
              <a:solidFill>
                <a:srgbClr val="2D144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843-436E-96F0-039D6C07BB61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Browsed Category</c:v>
                </c:pt>
                <c:pt idx="1">
                  <c:v>Clicked Recommendation</c:v>
                </c:pt>
                <c:pt idx="2">
                  <c:v>Searched Title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</c:v>
                </c:pt>
                <c:pt idx="1">
                  <c:v>5</c:v>
                </c:pt>
                <c:pt idx="2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E843-436E-96F0-039D6C07BB6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  <c:userShapes r:id="rId2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IN" sz="1800" b="0" i="0" u="none" strike="noStrike">
                <a:solidFill>
                  <a:srgbClr val="000000"/>
                </a:solidFill>
                <a:latin typeface="Arial"/>
              </a:rPr>
              <a:t>Subscription Status Distribution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B4C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C14D-4E38-8387-1E7F2E705471}"/>
              </c:ext>
            </c:extLst>
          </c:dPt>
          <c:dPt>
            <c:idx val="1"/>
            <c:bubble3D val="0"/>
            <c:spPr>
              <a:solidFill>
                <a:srgbClr val="E53E3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14D-4E38-8387-1E7F2E705471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C14D-4E38-8387-1E7F2E705471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C14D-4E38-8387-1E7F2E705471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Active</c:v>
                </c:pt>
                <c:pt idx="1">
                  <c:v>Cancelled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80</c:v>
                </c:pt>
                <c:pt idx="1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14D-4E38-8387-1E7F2E70547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  <c:userShapes r:id="rId2"/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</a:rPr>
              <a:t>Viewing Session Heatmap by Day &amp; Time</a:t>
            </a:r>
          </a:p>
        </c:rich>
      </c:tx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Afternoon</c:v>
                </c:pt>
              </c:strCache>
            </c:strRef>
          </c:tx>
          <c:spPr>
            <a:solidFill>
              <a:srgbClr val="2D144B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Wednesday</c:v>
                </c:pt>
                <c:pt idx="1">
                  <c:v>Thursday</c:v>
                </c:pt>
                <c:pt idx="2">
                  <c:v>Saturday</c:v>
                </c:pt>
                <c:pt idx="3">
                  <c:v>Friday</c:v>
                </c:pt>
                <c:pt idx="4">
                  <c:v>Sunday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</c:v>
                </c:pt>
                <c:pt idx="1">
                  <c:v>0</c:v>
                </c:pt>
                <c:pt idx="2">
                  <c:v>0</c:v>
                </c:pt>
                <c:pt idx="3">
                  <c:v>1</c:v>
                </c:pt>
                <c:pt idx="4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B0A-43AF-91F8-B807D9D74C6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Evening</c:v>
                </c:pt>
              </c:strCache>
            </c:strRef>
          </c:tx>
          <c:spPr>
            <a:solidFill>
              <a:srgbClr val="6B46C1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Wednesday</c:v>
                </c:pt>
                <c:pt idx="1">
                  <c:v>Thursday</c:v>
                </c:pt>
                <c:pt idx="2">
                  <c:v>Saturday</c:v>
                </c:pt>
                <c:pt idx="3">
                  <c:v>Friday</c:v>
                </c:pt>
                <c:pt idx="4">
                  <c:v>Sunday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</c:v>
                </c:pt>
                <c:pt idx="1">
                  <c:v>2</c:v>
                </c:pt>
                <c:pt idx="2">
                  <c:v>0</c:v>
                </c:pt>
                <c:pt idx="3">
                  <c:v>1</c:v>
                </c:pt>
                <c:pt idx="4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B0A-43AF-91F8-B807D9D74C6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Late Eve</c:v>
                </c:pt>
              </c:strCache>
            </c:strRef>
          </c:tx>
          <c:spPr>
            <a:solidFill>
              <a:srgbClr val="00B4C8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Wednesday</c:v>
                </c:pt>
                <c:pt idx="1">
                  <c:v>Thursday</c:v>
                </c:pt>
                <c:pt idx="2">
                  <c:v>Saturday</c:v>
                </c:pt>
                <c:pt idx="3">
                  <c:v>Friday</c:v>
                </c:pt>
                <c:pt idx="4">
                  <c:v>Sunday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2</c:v>
                </c:pt>
                <c:pt idx="3">
                  <c:v>1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B0A-43AF-91F8-B807D9D74C6C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Morning</c:v>
                </c:pt>
              </c:strCache>
            </c:strRef>
          </c:tx>
          <c:spPr>
            <a:solidFill>
              <a:srgbClr val="9FE2E9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Wednesday</c:v>
                </c:pt>
                <c:pt idx="1">
                  <c:v>Thursday</c:v>
                </c:pt>
                <c:pt idx="2">
                  <c:v>Saturday</c:v>
                </c:pt>
                <c:pt idx="3">
                  <c:v>Friday</c:v>
                </c:pt>
                <c:pt idx="4">
                  <c:v>Sunday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0</c:v>
                </c:pt>
                <c:pt idx="1">
                  <c:v>1</c:v>
                </c:pt>
                <c:pt idx="2">
                  <c:v>1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1B0A-43AF-91F8-B807D9D74C6C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Night</c:v>
                </c:pt>
              </c:strCache>
            </c:strRef>
          </c:tx>
          <c:spPr>
            <a:solidFill>
              <a:srgbClr val="D9CFF0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Wednesday</c:v>
                </c:pt>
                <c:pt idx="1">
                  <c:v>Thursday</c:v>
                </c:pt>
                <c:pt idx="2">
                  <c:v>Saturday</c:v>
                </c:pt>
                <c:pt idx="3">
                  <c:v>Friday</c:v>
                </c:pt>
                <c:pt idx="4">
                  <c:v>Sunday</c:v>
                </c:pt>
              </c:strCache>
            </c:strRef>
          </c:cat>
          <c:val>
            <c:numRef>
              <c:f>Sheet1!$F$2:$F$6</c:f>
              <c:numCache>
                <c:formatCode>General</c:formatCode>
                <c:ptCount val="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B0A-43AF-91F8-B807D9D74C6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  <c:userShapes r:id="rId2"/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</a:rPr>
              <a:t>Total Watch Time by Genre (min)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Watch Time</c:v>
                </c:pt>
              </c:strCache>
            </c:strRef>
          </c:tx>
          <c:spPr>
            <a:solidFill>
              <a:srgbClr val="2D144B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Regional Drama</c:v>
                </c:pt>
                <c:pt idx="1">
                  <c:v>Thriller</c:v>
                </c:pt>
                <c:pt idx="2">
                  <c:v>Sci-Fi</c:v>
                </c:pt>
                <c:pt idx="3">
                  <c:v>Documentary</c:v>
                </c:pt>
                <c:pt idx="4">
                  <c:v>Comedy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295</c:v>
                </c:pt>
                <c:pt idx="1">
                  <c:v>265</c:v>
                </c:pt>
                <c:pt idx="2">
                  <c:v>180</c:v>
                </c:pt>
                <c:pt idx="3">
                  <c:v>105</c:v>
                </c:pt>
                <c:pt idx="4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84D-4B6D-A99E-AA46DADF32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  <c:userShapes r:id="rId2"/>
</c:chartSpace>
</file>

<file path=ppt/drawing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5.png"/></Relationships>
</file>

<file path=ppt/drawings/_rels/drawing2.xml.rels><?xml version="1.0" encoding="UTF-8" standalone="yes"?>
<Relationships xmlns="http://schemas.openxmlformats.org/package/2006/relationships"><Relationship Id="rId1" Type="http://schemas.openxmlformats.org/officeDocument/2006/relationships/image" Target="../media/image6.png"/></Relationships>
</file>

<file path=ppt/drawings/_rels/drawing3.xml.rels><?xml version="1.0" encoding="UTF-8" standalone="yes"?>
<Relationships xmlns="http://schemas.openxmlformats.org/package/2006/relationships"><Relationship Id="rId1" Type="http://schemas.openxmlformats.org/officeDocument/2006/relationships/image" Target="../media/image7.png"/></Relationships>
</file>

<file path=ppt/drawings/_rels/drawing4.xml.rels><?xml version="1.0" encoding="UTF-8" standalone="yes"?>
<Relationships xmlns="http://schemas.openxmlformats.org/package/2006/relationships"><Relationship Id="rId1" Type="http://schemas.openxmlformats.org/officeDocument/2006/relationships/image" Target="../media/image8.png"/></Relationships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</cdr:x>
      <cdr:y>0</cdr:y>
    </cdr:from>
    <cdr:to>
      <cdr:x>0.56457</cdr:x>
      <cdr:y>1</cdr:y>
    </cdr:to>
    <cdr:pic>
      <cdr:nvPicPr>
        <cdr:cNvPr id="2" name="chart">
          <a:extLst xmlns:a="http://schemas.openxmlformats.org/drawingml/2006/main">
            <a:ext uri="{FF2B5EF4-FFF2-40B4-BE49-F238E27FC236}">
              <a16:creationId xmlns:a16="http://schemas.microsoft.com/office/drawing/2014/main" id="{70CCF4AC-5947-8773-E87D-906D6DAEDBBC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0" y="0"/>
          <a:ext cx="2761905" cy="2647619"/>
        </a:xfrm>
        <a:prstGeom xmlns:a="http://schemas.openxmlformats.org/drawingml/2006/main" prst="rect">
          <a:avLst/>
        </a:prstGeom>
      </cdr:spPr>
    </cdr:pic>
  </cdr:relSizeAnchor>
  <cdr:relSizeAnchor xmlns:cdr="http://schemas.openxmlformats.org/drawingml/2006/chartDrawing">
    <cdr:from>
      <cdr:x>0</cdr:x>
      <cdr:y>0</cdr:y>
    </cdr:from>
    <cdr:to>
      <cdr:x>1</cdr:x>
      <cdr:y>1</cdr:y>
    </cdr:to>
    <cdr:pic>
      <cdr:nvPicPr>
        <cdr:cNvPr id="3" name="chart">
          <a:extLst xmlns:a="http://schemas.openxmlformats.org/drawingml/2006/main">
            <a:ext uri="{FF2B5EF4-FFF2-40B4-BE49-F238E27FC236}">
              <a16:creationId xmlns:a16="http://schemas.microsoft.com/office/drawing/2014/main" id="{D89401D9-7BC4-F4F5-481C-99ABF4F4AA7A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0" y="0"/>
          <a:ext cx="4892040" cy="1965960"/>
        </a:xfrm>
        <a:prstGeom xmlns:a="http://schemas.openxmlformats.org/drawingml/2006/main" prst="rect">
          <a:avLst/>
        </a:prstGeom>
      </cdr:spPr>
    </cdr:pic>
  </cdr:relSizeAnchor>
</c:userShapes>
</file>

<file path=ppt/drawings/drawing2.xml><?xml version="1.0" encoding="utf-8"?>
<c:userShapes xmlns:c="http://schemas.openxmlformats.org/drawingml/2006/chart">
  <cdr:relSizeAnchor xmlns:cdr="http://schemas.openxmlformats.org/drawingml/2006/chartDrawing">
    <cdr:from>
      <cdr:x>0</cdr:x>
      <cdr:y>0</cdr:y>
    </cdr:from>
    <cdr:to>
      <cdr:x>1</cdr:x>
      <cdr:y>1</cdr:y>
    </cdr:to>
    <cdr:pic>
      <cdr:nvPicPr>
        <cdr:cNvPr id="3" name="chart">
          <a:extLst xmlns:a="http://schemas.openxmlformats.org/drawingml/2006/main">
            <a:ext uri="{FF2B5EF4-FFF2-40B4-BE49-F238E27FC236}">
              <a16:creationId xmlns:a16="http://schemas.microsoft.com/office/drawing/2014/main" id="{D7F16FBA-3C39-4F69-9F01-C24EF3D10CA6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0" y="0"/>
          <a:ext cx="4892040" cy="2057400"/>
        </a:xfrm>
        <a:prstGeom xmlns:a="http://schemas.openxmlformats.org/drawingml/2006/main" prst="rect">
          <a:avLst/>
        </a:prstGeom>
      </cdr:spPr>
    </cdr:pic>
  </cdr:relSizeAnchor>
</c:userShapes>
</file>

<file path=ppt/drawings/drawing3.xml><?xml version="1.0" encoding="utf-8"?>
<c:userShapes xmlns:c="http://schemas.openxmlformats.org/drawingml/2006/chart">
  <cdr:relSizeAnchor xmlns:cdr="http://schemas.openxmlformats.org/drawingml/2006/chartDrawing">
    <cdr:from>
      <cdr:x>0</cdr:x>
      <cdr:y>0</cdr:y>
    </cdr:from>
    <cdr:to>
      <cdr:x>1</cdr:x>
      <cdr:y>0.98625</cdr:y>
    </cdr:to>
    <cdr:pic>
      <cdr:nvPicPr>
        <cdr:cNvPr id="2" name="chart">
          <a:extLst xmlns:a="http://schemas.openxmlformats.org/drawingml/2006/main">
            <a:ext uri="{FF2B5EF4-FFF2-40B4-BE49-F238E27FC236}">
              <a16:creationId xmlns:a16="http://schemas.microsoft.com/office/drawing/2014/main" id="{73DD4BBE-E1DC-2D2F-9623-84B8C0F68226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0" y="0"/>
          <a:ext cx="4892040" cy="2029108"/>
        </a:xfrm>
        <a:prstGeom xmlns:a="http://schemas.openxmlformats.org/drawingml/2006/main" prst="rect">
          <a:avLst/>
        </a:prstGeom>
      </cdr:spPr>
    </cdr:pic>
  </cdr:relSizeAnchor>
</c:userShapes>
</file>

<file path=ppt/drawings/drawing4.xml><?xml version="1.0" encoding="utf-8"?>
<c:userShapes xmlns:c="http://schemas.openxmlformats.org/drawingml/2006/chart">
  <cdr:relSizeAnchor xmlns:cdr="http://schemas.openxmlformats.org/drawingml/2006/chartDrawing">
    <cdr:from>
      <cdr:x>0</cdr:x>
      <cdr:y>0</cdr:y>
    </cdr:from>
    <cdr:to>
      <cdr:x>1</cdr:x>
      <cdr:y>1</cdr:y>
    </cdr:to>
    <cdr:pic>
      <cdr:nvPicPr>
        <cdr:cNvPr id="2" name="chart">
          <a:extLst xmlns:a="http://schemas.openxmlformats.org/drawingml/2006/main">
            <a:ext uri="{FF2B5EF4-FFF2-40B4-BE49-F238E27FC236}">
              <a16:creationId xmlns:a16="http://schemas.microsoft.com/office/drawing/2014/main" id="{F4AC2787-C20D-2A16-78E3-229B5F61B0E2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0" y="0"/>
          <a:ext cx="4810796" cy="2457793"/>
        </a:xfrm>
        <a:prstGeom xmlns:a="http://schemas.openxmlformats.org/drawingml/2006/main" prst="rect">
          <a:avLst/>
        </a:prstGeom>
      </cdr:spPr>
    </cdr:pic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21208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explains:</a:t>
            </a:r>
          </a:p>
          <a:p>
            <a:r>
              <a:rPr lang="en-US" b="1" dirty="0"/>
              <a:t>“When users watch content and what their viewing behavior tells us about engagement.”</a:t>
            </a:r>
          </a:p>
          <a:p>
            <a:r>
              <a:rPr lang="en-US" dirty="0"/>
              <a:t>In simple language: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TOP LEFT — Temporal Analysis Findings</a:t>
            </a:r>
          </a:p>
          <a:p>
            <a:r>
              <a:rPr lang="en-US" dirty="0"/>
              <a:t>This section studies:</a:t>
            </a:r>
          </a:p>
          <a:p>
            <a:r>
              <a:rPr lang="en-US" b="1" dirty="0"/>
              <a:t>what time users are most active.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Peak Engagement</a:t>
            </a:r>
          </a:p>
          <a:p>
            <a:r>
              <a:rPr lang="en-US" b="1" dirty="0"/>
              <a:t>Late evenings &amp; weekend nights</a:t>
            </a:r>
          </a:p>
          <a:p>
            <a:r>
              <a:rPr lang="en-US" dirty="0"/>
              <a:t>Meaning:</a:t>
            </a:r>
            <a:br>
              <a:rPr lang="en-US" dirty="0"/>
            </a:br>
            <a:r>
              <a:rPr lang="en-US" dirty="0"/>
              <a:t>users are most active during:</a:t>
            </a:r>
          </a:p>
          <a:p>
            <a:r>
              <a:rPr lang="en-US" dirty="0"/>
              <a:t>evenings,</a:t>
            </a:r>
          </a:p>
          <a:p>
            <a:r>
              <a:rPr lang="en-US" dirty="0"/>
              <a:t>weekends,</a:t>
            </a:r>
          </a:p>
          <a:p>
            <a:r>
              <a:rPr lang="en-US" dirty="0"/>
              <a:t>leisure/free time.</a:t>
            </a:r>
          </a:p>
          <a:p>
            <a:r>
              <a:rPr lang="en-US" dirty="0"/>
              <a:t>This is when users spend more time watching content.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Higher viewing activity during weekends</a:t>
            </a:r>
          </a:p>
          <a:p>
            <a:r>
              <a:rPr lang="en-US" dirty="0"/>
              <a:t>Meaning:</a:t>
            </a:r>
            <a:br>
              <a:rPr lang="en-US" dirty="0"/>
            </a:br>
            <a:r>
              <a:rPr lang="en-US" dirty="0"/>
              <a:t>weekends have more continuous viewing compared to weekdays.</a:t>
            </a:r>
          </a:p>
          <a:p>
            <a:r>
              <a:rPr lang="en-US" dirty="0"/>
              <a:t>People have more free time,</a:t>
            </a:r>
            <a:br>
              <a:rPr lang="en-US" dirty="0"/>
            </a:br>
            <a:r>
              <a:rPr lang="en-US" dirty="0"/>
              <a:t>so engagement increases.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Longer and more consistent viewing activity during weekends</a:t>
            </a:r>
          </a:p>
          <a:p>
            <a:r>
              <a:rPr lang="en-US" dirty="0"/>
              <a:t>Meaning:</a:t>
            </a:r>
            <a:br>
              <a:rPr lang="en-US" dirty="0"/>
            </a:br>
            <a:r>
              <a:rPr lang="en-US" dirty="0"/>
              <a:t>users are more likely to:</a:t>
            </a:r>
          </a:p>
          <a:p>
            <a:r>
              <a:rPr lang="en-US" dirty="0"/>
              <a:t>stay longer,</a:t>
            </a:r>
          </a:p>
          <a:p>
            <a:r>
              <a:rPr lang="en-US" dirty="0"/>
              <a:t>complete content,</a:t>
            </a:r>
          </a:p>
          <a:p>
            <a:r>
              <a:rPr lang="en-US" dirty="0"/>
              <a:t>binge-watch during weekends.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Low Engagement</a:t>
            </a:r>
          </a:p>
          <a:p>
            <a:r>
              <a:rPr lang="en-US" b="1" dirty="0"/>
              <a:t>Weekday daytime sessions</a:t>
            </a:r>
          </a:p>
          <a:p>
            <a:r>
              <a:rPr lang="en-US" dirty="0"/>
              <a:t>Meaning:</a:t>
            </a:r>
            <a:br>
              <a:rPr lang="en-US" dirty="0"/>
            </a:br>
            <a:r>
              <a:rPr lang="en-US" dirty="0"/>
              <a:t>during work/study hours,</a:t>
            </a:r>
            <a:br>
              <a:rPr lang="en-US" dirty="0"/>
            </a:br>
            <a:r>
              <a:rPr lang="en-US" dirty="0"/>
              <a:t>users watch less.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Fragmented viewing behavior</a:t>
            </a:r>
          </a:p>
          <a:p>
            <a:r>
              <a:rPr lang="en-US" dirty="0"/>
              <a:t>Meaning:</a:t>
            </a:r>
            <a:br>
              <a:rPr lang="en-US" dirty="0"/>
            </a:br>
            <a:r>
              <a:rPr lang="en-US" dirty="0"/>
              <a:t>users:</a:t>
            </a:r>
          </a:p>
          <a:p>
            <a:r>
              <a:rPr lang="en-US" dirty="0"/>
              <a:t>start and stop frequently,</a:t>
            </a:r>
          </a:p>
          <a:p>
            <a:r>
              <a:rPr lang="en-US" dirty="0"/>
              <a:t>multitask,</a:t>
            </a:r>
          </a:p>
          <a:p>
            <a:r>
              <a:rPr lang="en-US" dirty="0"/>
              <a:t>watch inconsistently.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TOP RIGHT — Heatmap</a:t>
            </a:r>
          </a:p>
          <a:p>
            <a:r>
              <a:rPr lang="en-US" dirty="0"/>
              <a:t>This chart visually shows:</a:t>
            </a:r>
          </a:p>
          <a:p>
            <a:r>
              <a:rPr lang="en-US" b="1" dirty="0"/>
              <a:t>when viewing activity is highest.</a:t>
            </a:r>
          </a:p>
          <a:p>
            <a:r>
              <a:rPr lang="en-US" dirty="0"/>
              <a:t>Darker cells mean:</a:t>
            </a:r>
            <a:br>
              <a:rPr lang="en-US" dirty="0"/>
            </a:br>
            <a:r>
              <a:rPr lang="en-US" dirty="0"/>
              <a:t>more activity.</a:t>
            </a:r>
          </a:p>
          <a:p>
            <a:r>
              <a:rPr lang="en-US" dirty="0"/>
              <a:t>Simple interpretation:</a:t>
            </a:r>
          </a:p>
          <a:p>
            <a:r>
              <a:rPr lang="en-US" dirty="0"/>
              <a:t>evenings and nights show stronger activity,</a:t>
            </a:r>
          </a:p>
          <a:p>
            <a:r>
              <a:rPr lang="en-US" dirty="0"/>
              <a:t>weekends show more engagement.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BOTTOM RIGHT — Pause Behavior Analysis</a:t>
            </a:r>
          </a:p>
          <a:p>
            <a:r>
              <a:rPr lang="en-US" dirty="0"/>
              <a:t>This explains:</a:t>
            </a:r>
          </a:p>
          <a:p>
            <a:r>
              <a:rPr lang="en-US" b="1" dirty="0"/>
              <a:t>what pauses tell us about user engagement.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1–3 Pauses</a:t>
            </a:r>
          </a:p>
          <a:p>
            <a:r>
              <a:rPr lang="en-US" dirty="0"/>
              <a:t>Meaning:</a:t>
            </a:r>
            <a:br>
              <a:rPr lang="en-US" dirty="0"/>
            </a:br>
            <a:r>
              <a:rPr lang="en-US" dirty="0"/>
              <a:t>moderate pausing is normal.</a:t>
            </a:r>
          </a:p>
          <a:p>
            <a:r>
              <a:rPr lang="en-US" dirty="0"/>
              <a:t>Possible reasons:</a:t>
            </a:r>
          </a:p>
          <a:p>
            <a:r>
              <a:rPr lang="en-US" dirty="0"/>
              <a:t>checking phone,</a:t>
            </a:r>
          </a:p>
          <a:p>
            <a:r>
              <a:rPr lang="en-US" dirty="0"/>
              <a:t>short break,</a:t>
            </a:r>
          </a:p>
          <a:p>
            <a:r>
              <a:rPr lang="en-US" dirty="0"/>
              <a:t>discussing content,</a:t>
            </a:r>
          </a:p>
          <a:p>
            <a:r>
              <a:rPr lang="en-US" dirty="0"/>
              <a:t>continuing later.</a:t>
            </a:r>
          </a:p>
          <a:p>
            <a:r>
              <a:rPr lang="en-US" dirty="0"/>
              <a:t>This often indicates:</a:t>
            </a:r>
          </a:p>
          <a:p>
            <a:r>
              <a:rPr lang="en-US" b="1" dirty="0"/>
              <a:t>users are still engaged.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Deep narrative engagement</a:t>
            </a:r>
          </a:p>
          <a:p>
            <a:r>
              <a:rPr lang="en-US" dirty="0"/>
              <a:t>Meaning:</a:t>
            </a:r>
            <a:br>
              <a:rPr lang="en-US" dirty="0"/>
            </a:br>
            <a:r>
              <a:rPr lang="en-US" dirty="0"/>
              <a:t>users are interested enough to continue watching.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High completion probability</a:t>
            </a:r>
          </a:p>
          <a:p>
            <a:r>
              <a:rPr lang="en-US" dirty="0"/>
              <a:t>Meaning:</a:t>
            </a:r>
            <a:br>
              <a:rPr lang="en-US" dirty="0"/>
            </a:br>
            <a:r>
              <a:rPr lang="en-US" dirty="0"/>
              <a:t>they are more likely to finish the content.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4+ Pauses</a:t>
            </a:r>
          </a:p>
          <a:p>
            <a:r>
              <a:rPr lang="en-US" dirty="0"/>
              <a:t>Meaning:</a:t>
            </a:r>
            <a:br>
              <a:rPr lang="en-US" dirty="0"/>
            </a:br>
            <a:r>
              <a:rPr lang="en-US" dirty="0"/>
              <a:t>too many pauses may indicate:</a:t>
            </a:r>
          </a:p>
          <a:p>
            <a:r>
              <a:rPr lang="en-US" dirty="0"/>
              <a:t>distraction,</a:t>
            </a:r>
          </a:p>
          <a:p>
            <a:r>
              <a:rPr lang="en-US" dirty="0"/>
              <a:t>boredom,</a:t>
            </a:r>
          </a:p>
          <a:p>
            <a:r>
              <a:rPr lang="en-US" dirty="0"/>
              <a:t>low interest.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High abandonment probability</a:t>
            </a:r>
          </a:p>
          <a:p>
            <a:r>
              <a:rPr lang="en-US" dirty="0"/>
              <a:t>Meaning:</a:t>
            </a:r>
            <a:br>
              <a:rPr lang="en-US" dirty="0"/>
            </a:br>
            <a:r>
              <a:rPr lang="en-US" dirty="0"/>
              <a:t>users may stop watching completely.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Trigger re-engagement prompts</a:t>
            </a:r>
          </a:p>
          <a:p>
            <a:r>
              <a:rPr lang="en-US" dirty="0"/>
              <a:t>Business action:</a:t>
            </a:r>
            <a:br>
              <a:rPr lang="en-US" dirty="0"/>
            </a:br>
            <a:r>
              <a:rPr lang="en-US" dirty="0"/>
              <a:t>platform can send:</a:t>
            </a:r>
          </a:p>
          <a:p>
            <a:r>
              <a:rPr lang="en-US" dirty="0"/>
              <a:t>“Resume Watching?”</a:t>
            </a:r>
          </a:p>
          <a:p>
            <a:r>
              <a:rPr lang="en-US" dirty="0"/>
              <a:t>reminder notifications.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BOTTOM LEFT — Strategic Actions</a:t>
            </a:r>
          </a:p>
          <a:p>
            <a:r>
              <a:rPr lang="en-US" dirty="0"/>
              <a:t>This section explains:</a:t>
            </a:r>
          </a:p>
          <a:p>
            <a:r>
              <a:rPr lang="en-US" b="1" dirty="0"/>
              <a:t>how the business can use these insights.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Friday evening push notifications</a:t>
            </a:r>
          </a:p>
          <a:p>
            <a:r>
              <a:rPr lang="en-US" dirty="0"/>
              <a:t>Meaning:</a:t>
            </a:r>
            <a:br>
              <a:rPr lang="en-US" dirty="0"/>
            </a:br>
            <a:r>
              <a:rPr lang="en-US" dirty="0"/>
              <a:t>release or promote content during high-engagement time periods.</a:t>
            </a:r>
          </a:p>
          <a:p>
            <a:r>
              <a:rPr lang="en-US" dirty="0"/>
              <a:t>Because:</a:t>
            </a:r>
            <a:br>
              <a:rPr lang="en-US" dirty="0"/>
            </a:br>
            <a:r>
              <a:rPr lang="en-US" dirty="0"/>
              <a:t>users are more active then.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Resume Watching emails</a:t>
            </a:r>
          </a:p>
          <a:p>
            <a:r>
              <a:rPr lang="en-US" dirty="0"/>
              <a:t>Meaning:</a:t>
            </a:r>
            <a:br>
              <a:rPr lang="en-US" dirty="0"/>
            </a:br>
            <a:r>
              <a:rPr lang="en-US" dirty="0"/>
              <a:t>if users pause too much,</a:t>
            </a:r>
            <a:br>
              <a:rPr lang="en-US" dirty="0"/>
            </a:br>
            <a:r>
              <a:rPr lang="en-US" dirty="0"/>
              <a:t>the platform should remind them to continue.</a:t>
            </a:r>
          </a:p>
          <a:p>
            <a:r>
              <a:rPr lang="en-US" dirty="0"/>
              <a:t>This helps:</a:t>
            </a:r>
          </a:p>
          <a:p>
            <a:r>
              <a:rPr lang="en-US" dirty="0"/>
              <a:t>reduce abandonment,</a:t>
            </a:r>
          </a:p>
          <a:p>
            <a:r>
              <a:rPr lang="en-US" dirty="0"/>
              <a:t>improve retention.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FINAL MESSAGE OF THE SLIDE</a:t>
            </a:r>
          </a:p>
          <a:p>
            <a:r>
              <a:rPr lang="en-US" dirty="0"/>
              <a:t>This slide basically says:</a:t>
            </a:r>
          </a:p>
          <a:p>
            <a:r>
              <a:rPr lang="en-US" dirty="0"/>
              <a:t>“User engagement changes depending on time and viewing behavior, and these patterns can help platforms improve retention and content strategy.”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SIMPLE ONE-LINE EXPLANATION FOR VIVA</a:t>
            </a:r>
          </a:p>
          <a:p>
            <a:r>
              <a:rPr lang="en-US" dirty="0"/>
              <a:t>Say this:</a:t>
            </a:r>
          </a:p>
          <a:p>
            <a:r>
              <a:rPr lang="en-US" dirty="0"/>
              <a:t>“This slide analyzes when users are most engaged and how pause behavior can indicate either strong engagement or possible abandonment risk.”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explains:</a:t>
            </a:r>
          </a:p>
          <a:p>
            <a:r>
              <a:rPr lang="en-US" b="1" dirty="0"/>
              <a:t>“How we converted our SQL analysis into a business decision-making dashboard using Power BI.”</a:t>
            </a:r>
          </a:p>
          <a:p>
            <a:r>
              <a:rPr lang="en-US" dirty="0"/>
              <a:t>In simple language: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TOP LINE</a:t>
            </a:r>
          </a:p>
          <a:p>
            <a:r>
              <a:rPr lang="en-US" b="1" dirty="0"/>
              <a:t>“Operationalize engagement intelligence into daily decision-making.”</a:t>
            </a:r>
          </a:p>
          <a:p>
            <a:r>
              <a:rPr lang="en-US" dirty="0"/>
              <a:t>Simple meaning:</a:t>
            </a:r>
          </a:p>
          <a:p>
            <a:r>
              <a:rPr lang="en-US" dirty="0"/>
              <a:t>“We used the dashboard to help the company make smarter business decisions using user behavior data.”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TOP KPI CARDS</a:t>
            </a:r>
          </a:p>
          <a:p>
            <a:r>
              <a:rPr lang="en-US" dirty="0"/>
              <a:t>These are:</a:t>
            </a:r>
          </a:p>
          <a:p>
            <a:r>
              <a:rPr lang="en-US" b="1" dirty="0"/>
              <a:t>quick summary metrics.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Total Users = 10</a:t>
            </a:r>
          </a:p>
          <a:p>
            <a:r>
              <a:rPr lang="en-US" dirty="0"/>
              <a:t>Shows:</a:t>
            </a:r>
            <a:br>
              <a:rPr lang="en-US" dirty="0"/>
            </a:br>
            <a:r>
              <a:rPr lang="en-US" dirty="0"/>
              <a:t>how many users are in the sample dataset.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Subscriptions = 10</a:t>
            </a:r>
          </a:p>
          <a:p>
            <a:r>
              <a:rPr lang="en-US" dirty="0"/>
              <a:t>Shows:</a:t>
            </a:r>
            <a:br>
              <a:rPr lang="en-US" dirty="0"/>
            </a:br>
            <a:r>
              <a:rPr lang="en-US" dirty="0"/>
              <a:t>total subscription records being analyzed.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Avg Watch = 40.1 min</a:t>
            </a:r>
          </a:p>
          <a:p>
            <a:r>
              <a:rPr lang="en-US" dirty="0"/>
              <a:t>Shows:</a:t>
            </a:r>
            <a:br>
              <a:rPr lang="en-US" dirty="0"/>
            </a:br>
            <a:r>
              <a:rPr lang="en-US" dirty="0"/>
              <a:t>average viewing time per user/session.</a:t>
            </a:r>
          </a:p>
          <a:p>
            <a:r>
              <a:rPr lang="en-US" dirty="0"/>
              <a:t>Simple meaning:</a:t>
            </a:r>
            <a:br>
              <a:rPr lang="en-US" dirty="0"/>
            </a:br>
            <a:r>
              <a:rPr lang="en-US" dirty="0"/>
              <a:t>users watch around 40 minutes on average.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Completion Rate = 56%</a:t>
            </a:r>
          </a:p>
          <a:p>
            <a:r>
              <a:rPr lang="en-US" dirty="0"/>
              <a:t>Shows:</a:t>
            </a:r>
            <a:br>
              <a:rPr lang="en-US" dirty="0"/>
            </a:br>
            <a:r>
              <a:rPr lang="en-US" dirty="0"/>
              <a:t>how much content users actually finish watching.</a:t>
            </a:r>
          </a:p>
          <a:p>
            <a:r>
              <a:rPr lang="en-US" dirty="0"/>
              <a:t>Simple meaning:</a:t>
            </a:r>
            <a:br>
              <a:rPr lang="en-US" dirty="0"/>
            </a:br>
            <a:r>
              <a:rPr lang="en-US" dirty="0"/>
              <a:t>slightly more than half of started content gets completed.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BOTTOM LEFT — Watch Time by Genre</a:t>
            </a:r>
          </a:p>
          <a:p>
            <a:r>
              <a:rPr lang="en-US" dirty="0"/>
              <a:t>This chart shows:</a:t>
            </a:r>
          </a:p>
          <a:p>
            <a:r>
              <a:rPr lang="en-US" b="1" dirty="0"/>
              <a:t>which genres users spend the most time watching.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Regional Drama &amp; Thriller</a:t>
            </a:r>
          </a:p>
          <a:p>
            <a:r>
              <a:rPr lang="en-US" dirty="0"/>
              <a:t>Highest watch time.</a:t>
            </a:r>
          </a:p>
          <a:p>
            <a:r>
              <a:rPr lang="en-US" dirty="0"/>
              <a:t>Meaning:</a:t>
            </a:r>
            <a:br>
              <a:rPr lang="en-US" dirty="0"/>
            </a:br>
            <a:r>
              <a:rPr lang="en-US" dirty="0"/>
              <a:t>these genres generate stronger engagement.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Comedy</a:t>
            </a:r>
          </a:p>
          <a:p>
            <a:r>
              <a:rPr lang="en-US" dirty="0"/>
              <a:t>Lower watch time.</a:t>
            </a:r>
          </a:p>
          <a:p>
            <a:r>
              <a:rPr lang="en-US" dirty="0"/>
              <a:t>Meaning:</a:t>
            </a:r>
            <a:br>
              <a:rPr lang="en-US" dirty="0"/>
            </a:br>
            <a:r>
              <a:rPr lang="en-US" dirty="0"/>
              <a:t>users spend less time on that genre.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CENTER — Subscription Status</a:t>
            </a:r>
          </a:p>
          <a:p>
            <a:r>
              <a:rPr lang="en-US" dirty="0"/>
              <a:t>Shows:</a:t>
            </a:r>
          </a:p>
          <a:p>
            <a:r>
              <a:rPr lang="en-US" dirty="0"/>
              <a:t>Active users</a:t>
            </a:r>
          </a:p>
          <a:p>
            <a:r>
              <a:rPr lang="en-US" dirty="0"/>
              <a:t>Cancelled users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80% Active</a:t>
            </a:r>
          </a:p>
          <a:p>
            <a:r>
              <a:rPr lang="en-US" dirty="0"/>
              <a:t>Most users are still subscribed.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20% Cancelled</a:t>
            </a:r>
          </a:p>
          <a:p>
            <a:r>
              <a:rPr lang="en-US" dirty="0"/>
              <a:t>Some users have churned/cancelled.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RIGHT SIDE — Action Type Chart</a:t>
            </a:r>
          </a:p>
          <a:p>
            <a:r>
              <a:rPr lang="en-US" dirty="0"/>
              <a:t>This compares:</a:t>
            </a:r>
          </a:p>
          <a:p>
            <a:r>
              <a:rPr lang="en-US" dirty="0"/>
              <a:t>users who browsed,</a:t>
            </a:r>
          </a:p>
          <a:p>
            <a:r>
              <a:rPr lang="en-US" dirty="0"/>
              <a:t>clicked,</a:t>
            </a:r>
          </a:p>
          <a:p>
            <a:r>
              <a:rPr lang="en-US" dirty="0"/>
              <a:t>searched,</a:t>
            </a:r>
          </a:p>
          <a:p>
            <a:r>
              <a:rPr lang="en-US" dirty="0"/>
              <a:t>and whether they:</a:t>
            </a:r>
          </a:p>
          <a:p>
            <a:pPr lvl="1"/>
            <a:r>
              <a:rPr lang="en-US" dirty="0"/>
              <a:t>started watching,</a:t>
            </a:r>
          </a:p>
          <a:p>
            <a:pPr lvl="1"/>
            <a:r>
              <a:rPr lang="en-US" dirty="0"/>
              <a:t>or exited the app.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Simple Meaning</a:t>
            </a:r>
          </a:p>
          <a:p>
            <a:r>
              <a:rPr lang="en-US" dirty="0"/>
              <a:t>Not every interaction leads to actual viewing.</a:t>
            </a:r>
          </a:p>
          <a:p>
            <a:r>
              <a:rPr lang="en-US" dirty="0"/>
              <a:t>Some users:</a:t>
            </a:r>
          </a:p>
          <a:p>
            <a:r>
              <a:rPr lang="en-US" dirty="0"/>
              <a:t>browse,</a:t>
            </a:r>
          </a:p>
          <a:p>
            <a:r>
              <a:rPr lang="en-US" dirty="0"/>
              <a:t>click,</a:t>
            </a:r>
          </a:p>
          <a:p>
            <a:r>
              <a:rPr lang="en-US" dirty="0"/>
              <a:t>then leave without watching.</a:t>
            </a:r>
          </a:p>
          <a:p>
            <a:r>
              <a:rPr lang="en-US" dirty="0"/>
              <a:t>This helps identify:</a:t>
            </a:r>
          </a:p>
          <a:p>
            <a:r>
              <a:rPr lang="en-US" b="1" dirty="0"/>
              <a:t>engagement quality.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BOTTOM LEFT — Operational Tool for Retention Managers</a:t>
            </a:r>
          </a:p>
          <a:p>
            <a:r>
              <a:rPr lang="en-US" dirty="0"/>
              <a:t>This explains:</a:t>
            </a:r>
          </a:p>
          <a:p>
            <a:r>
              <a:rPr lang="en-US" b="1" dirty="0"/>
              <a:t>how the dashboard helps retention teams.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Monitor Browse Fatigue</a:t>
            </a:r>
          </a:p>
          <a:p>
            <a:r>
              <a:rPr lang="en-US" dirty="0"/>
              <a:t>Identify users spending too much time browsing.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Identify churn-risk users</a:t>
            </a:r>
          </a:p>
          <a:p>
            <a:r>
              <a:rPr lang="en-US" dirty="0"/>
              <a:t>Detect users likely to cancel.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Trigger retention campaigns</a:t>
            </a:r>
          </a:p>
          <a:p>
            <a:r>
              <a:rPr lang="en-US" dirty="0"/>
              <a:t>Send offers, reminders, or recommendations before users leave.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BOTTOM RIGHT — Strategic Tool for Content Teams</a:t>
            </a:r>
          </a:p>
          <a:p>
            <a:r>
              <a:rPr lang="en-US" dirty="0"/>
              <a:t>This explains:</a:t>
            </a:r>
          </a:p>
          <a:p>
            <a:r>
              <a:rPr lang="en-US" b="1" dirty="0"/>
              <a:t>how the dashboard helps business/content teams.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Identify high-retention Tier 3 content</a:t>
            </a:r>
          </a:p>
          <a:p>
            <a:r>
              <a:rPr lang="en-US" dirty="0"/>
              <a:t>Find less-promoted content with strong engagement.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Optimize promotion strategy</a:t>
            </a:r>
          </a:p>
          <a:p>
            <a:r>
              <a:rPr lang="en-US" dirty="0"/>
              <a:t>Promote content users genuinely enjoy.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Allocate marketing budget efficiently</a:t>
            </a:r>
          </a:p>
          <a:p>
            <a:r>
              <a:rPr lang="en-US" dirty="0"/>
              <a:t>Spend money on content with better retention performance.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FINAL MESSAGE OF THE SLIDE</a:t>
            </a:r>
          </a:p>
          <a:p>
            <a:r>
              <a:rPr lang="en-US" dirty="0"/>
              <a:t>This slide basically says:</a:t>
            </a:r>
          </a:p>
          <a:p>
            <a:r>
              <a:rPr lang="en-US" dirty="0"/>
              <a:t>“The Power BI dashboard transforms raw SQL analytics into interactive business insights that help improve engagement, retention, and content strategy.”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SIMPLE ONE-LINE EXPLANATION FOR VIVA</a:t>
            </a:r>
          </a:p>
          <a:p>
            <a:r>
              <a:rPr lang="en-US" dirty="0"/>
              <a:t>Say this:</a:t>
            </a:r>
          </a:p>
          <a:p>
            <a:r>
              <a:rPr lang="en-US" dirty="0"/>
              <a:t>“This dashboard visualizes engagement metrics, churn indicators, and content performance insights to support retention and strategic business decisions.”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explains:</a:t>
            </a:r>
          </a:p>
          <a:p>
            <a:r>
              <a:rPr lang="en-US" b="1" dirty="0"/>
              <a:t>“Based on our analysis, what business actions should the OTT platform take?”</a:t>
            </a:r>
          </a:p>
          <a:p>
            <a:r>
              <a:rPr lang="en-US" dirty="0"/>
              <a:t>In simple language:</a:t>
            </a:r>
            <a:br>
              <a:rPr lang="en-US" dirty="0"/>
            </a:br>
            <a:r>
              <a:rPr lang="en-US" dirty="0"/>
              <a:t>these are the final recommendations from your project.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1. Redefine Success Metrics</a:t>
            </a:r>
          </a:p>
          <a:p>
            <a:r>
              <a:rPr lang="en-US" b="1" dirty="0"/>
              <a:t>Current Problem</a:t>
            </a:r>
          </a:p>
          <a:p>
            <a:r>
              <a:rPr lang="en-US" dirty="0"/>
              <a:t>Platforms usually measure success using:</a:t>
            </a:r>
          </a:p>
          <a:p>
            <a:r>
              <a:rPr lang="en-US" dirty="0"/>
              <a:t>views,</a:t>
            </a:r>
          </a:p>
          <a:p>
            <a:r>
              <a:rPr lang="en-US" dirty="0"/>
              <a:t>clicks,</a:t>
            </a:r>
          </a:p>
          <a:p>
            <a:r>
              <a:rPr lang="en-US" dirty="0"/>
              <a:t>impressions.</a:t>
            </a:r>
          </a:p>
          <a:p>
            <a:r>
              <a:rPr lang="en-US" dirty="0"/>
              <a:t>But:</a:t>
            </a:r>
            <a:br>
              <a:rPr lang="en-US" dirty="0"/>
            </a:br>
            <a:r>
              <a:rPr lang="en-US" dirty="0"/>
              <a:t>high views do not always mean users enjoyed the content.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Recommendation</a:t>
            </a:r>
          </a:p>
          <a:p>
            <a:r>
              <a:rPr lang="en-US" dirty="0"/>
              <a:t>Focus more on:</a:t>
            </a:r>
          </a:p>
          <a:p>
            <a:r>
              <a:rPr lang="en-US" b="1" dirty="0"/>
              <a:t>Start-to-Completion Ratio</a:t>
            </a:r>
          </a:p>
          <a:p>
            <a:r>
              <a:rPr lang="en-US" dirty="0"/>
              <a:t>Meaning:</a:t>
            </a:r>
            <a:br>
              <a:rPr lang="en-US" dirty="0"/>
            </a:br>
            <a:r>
              <a:rPr lang="en-US" dirty="0"/>
              <a:t>how many users actually finish the content after starting it.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Simple Business Meaning</a:t>
            </a:r>
          </a:p>
          <a:p>
            <a:r>
              <a:rPr lang="en-US" dirty="0"/>
              <a:t>“Completion rate is a better measure of true engagement than raw views.”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2. Re-Weight Recommendation Algorithms</a:t>
            </a:r>
          </a:p>
          <a:p>
            <a:r>
              <a:rPr lang="en-US" b="1" dirty="0"/>
              <a:t>Current Problem</a:t>
            </a:r>
          </a:p>
          <a:p>
            <a:r>
              <a:rPr lang="en-US" dirty="0"/>
              <a:t>Recommendation systems often promote content just because:</a:t>
            </a:r>
          </a:p>
          <a:p>
            <a:r>
              <a:rPr lang="en-US" dirty="0"/>
              <a:t>many users clicked it.</a:t>
            </a:r>
          </a:p>
          <a:p>
            <a:r>
              <a:rPr lang="en-US" dirty="0"/>
              <a:t>But users may:</a:t>
            </a:r>
          </a:p>
          <a:p>
            <a:r>
              <a:rPr lang="en-US" dirty="0"/>
              <a:t>click,</a:t>
            </a:r>
          </a:p>
          <a:p>
            <a:r>
              <a:rPr lang="en-US" dirty="0"/>
              <a:t>then leave quickly.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Recommendation</a:t>
            </a:r>
          </a:p>
          <a:p>
            <a:r>
              <a:rPr lang="en-US" dirty="0"/>
              <a:t>The algorithm should prioritize:</a:t>
            </a:r>
          </a:p>
          <a:p>
            <a:r>
              <a:rPr lang="en-US" dirty="0"/>
              <a:t>retention,</a:t>
            </a:r>
          </a:p>
          <a:p>
            <a:r>
              <a:rPr lang="en-US" dirty="0"/>
              <a:t>watch completion,</a:t>
            </a:r>
          </a:p>
          <a:p>
            <a:r>
              <a:rPr lang="en-US" dirty="0"/>
              <a:t>sustained engagement.</a:t>
            </a:r>
          </a:p>
          <a:p>
            <a:r>
              <a:rPr lang="en-US" dirty="0"/>
              <a:t>Also:</a:t>
            </a:r>
            <a:br>
              <a:rPr lang="en-US" dirty="0"/>
            </a:br>
            <a:r>
              <a:rPr lang="en-US" dirty="0"/>
              <a:t>promote hidden Tier 3 content with high completion rates.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Simple Business Meaning</a:t>
            </a:r>
          </a:p>
          <a:p>
            <a:r>
              <a:rPr lang="en-US" dirty="0"/>
              <a:t>“Recommend content users genuinely enjoy, not just content they click once.”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3. Deploy Real-Time UI Interventions</a:t>
            </a:r>
          </a:p>
          <a:p>
            <a:r>
              <a:rPr lang="en-US" b="1" dirty="0"/>
              <a:t>Current Problem</a:t>
            </a:r>
          </a:p>
          <a:p>
            <a:r>
              <a:rPr lang="en-US" dirty="0"/>
              <a:t>Some users browse too long without choosing content.</a:t>
            </a:r>
          </a:p>
          <a:p>
            <a:r>
              <a:rPr lang="en-US" dirty="0"/>
              <a:t>This creates:</a:t>
            </a:r>
          </a:p>
          <a:p>
            <a:r>
              <a:rPr lang="en-US" b="1" dirty="0"/>
              <a:t>choice paralysis / browse fatigue.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Recommendation</a:t>
            </a:r>
          </a:p>
          <a:p>
            <a:r>
              <a:rPr lang="en-US" dirty="0"/>
              <a:t>If users browse too long,</a:t>
            </a:r>
            <a:br>
              <a:rPr lang="en-US" dirty="0"/>
            </a:br>
            <a:r>
              <a:rPr lang="en-US" dirty="0"/>
              <a:t>the platform should intervene.</a:t>
            </a:r>
          </a:p>
          <a:p>
            <a:r>
              <a:rPr lang="en-US" dirty="0"/>
              <a:t>Example:</a:t>
            </a:r>
          </a:p>
          <a:p>
            <a:r>
              <a:rPr lang="en-US" dirty="0"/>
              <a:t>“Surprise Me” button,</a:t>
            </a:r>
          </a:p>
          <a:p>
            <a:r>
              <a:rPr lang="en-US" dirty="0"/>
              <a:t>personalized suggestions,</a:t>
            </a:r>
          </a:p>
          <a:p>
            <a:r>
              <a:rPr lang="en-US" dirty="0"/>
              <a:t>quick recommendations.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Simple Business Meaning</a:t>
            </a:r>
          </a:p>
          <a:p>
            <a:r>
              <a:rPr lang="en-US" dirty="0"/>
              <a:t>“Help confused users decide faster to reduce churn risk.”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4. Optimize Content Acquisition Strategy</a:t>
            </a:r>
          </a:p>
          <a:p>
            <a:r>
              <a:rPr lang="en-US" b="1" dirty="0"/>
              <a:t>Current Problem</a:t>
            </a:r>
          </a:p>
          <a:p>
            <a:r>
              <a:rPr lang="en-US" dirty="0"/>
              <a:t>Platforms often spend heavily on:</a:t>
            </a:r>
          </a:p>
          <a:p>
            <a:r>
              <a:rPr lang="en-US" dirty="0"/>
              <a:t>highly marketed content,</a:t>
            </a:r>
            <a:br>
              <a:rPr lang="en-US" dirty="0"/>
            </a:br>
            <a:r>
              <a:rPr lang="en-US" dirty="0"/>
              <a:t>even if retention is poor.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Recommendation</a:t>
            </a:r>
          </a:p>
          <a:p>
            <a:r>
              <a:rPr lang="en-US" dirty="0"/>
              <a:t>Invest more in:</a:t>
            </a:r>
          </a:p>
          <a:p>
            <a:r>
              <a:rPr lang="en-US" dirty="0"/>
              <a:t>regional niche content,</a:t>
            </a:r>
          </a:p>
          <a:p>
            <a:r>
              <a:rPr lang="en-US" dirty="0"/>
              <a:t>high-retention content,</a:t>
            </a:r>
          </a:p>
          <a:p>
            <a:r>
              <a:rPr lang="en-US" dirty="0"/>
              <a:t>content users actually complete.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Simple Business Meaning</a:t>
            </a:r>
          </a:p>
          <a:p>
            <a:r>
              <a:rPr lang="en-US" dirty="0"/>
              <a:t>“Spend money on content that keeps users engaged, not just content that creates hype.”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FINAL MESSAGE OF THE SLIDE</a:t>
            </a:r>
          </a:p>
          <a:p>
            <a:r>
              <a:rPr lang="en-US" dirty="0"/>
              <a:t>This slide basically says:</a:t>
            </a:r>
          </a:p>
          <a:p>
            <a:r>
              <a:rPr lang="en-US" dirty="0"/>
              <a:t>“Our analysis helps the platform improve engagement, reduce churn, optimize recommendations, and make smarter content investment decisions.”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SIMPLE ONE-LINE EXPLANATION FOR VIVA</a:t>
            </a:r>
          </a:p>
          <a:p>
            <a:r>
              <a:rPr lang="en-US" dirty="0"/>
              <a:t>Say this:</a:t>
            </a:r>
          </a:p>
          <a:p>
            <a:r>
              <a:rPr lang="en-US" dirty="0"/>
              <a:t>“This slide presents strategic business recommendations based on our behavioral analytics findings to improve retention, engagement quality, and recommendation effectiveness.”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explains:</a:t>
            </a:r>
          </a:p>
          <a:p>
            <a:r>
              <a:rPr lang="en-US" b="1" dirty="0"/>
              <a:t>“What future improvements can be added to the system and what is the final conclusion of the project.”</a:t>
            </a:r>
          </a:p>
          <a:p>
            <a:r>
              <a:rPr lang="en-US" dirty="0"/>
              <a:t>It is basically:</a:t>
            </a:r>
          </a:p>
          <a:p>
            <a:r>
              <a:rPr lang="en-US" b="1" dirty="0"/>
              <a:t>the closing summary of your entire project.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LEFT SIDE — Future Scope</a:t>
            </a:r>
          </a:p>
          <a:p>
            <a:r>
              <a:rPr lang="en-US" dirty="0"/>
              <a:t>This section explains:</a:t>
            </a:r>
          </a:p>
          <a:p>
            <a:r>
              <a:rPr lang="en-US" b="1" dirty="0"/>
              <a:t>how the project can become more advanced in the future.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1. Predictive Churn Models</a:t>
            </a:r>
          </a:p>
          <a:p>
            <a:r>
              <a:rPr lang="en-US" dirty="0"/>
              <a:t>Simple meaning:</a:t>
            </a:r>
          </a:p>
          <a:p>
            <a:r>
              <a:rPr lang="en-US" dirty="0"/>
              <a:t>Use Machine Learning to predict:</a:t>
            </a:r>
          </a:p>
          <a:p>
            <a:r>
              <a:rPr lang="en-US" dirty="0"/>
              <a:t>which users may cancel subscriptions before they actually do.</a:t>
            </a:r>
          </a:p>
          <a:p>
            <a:r>
              <a:rPr lang="en-US" dirty="0"/>
              <a:t>Example:</a:t>
            </a:r>
            <a:br>
              <a:rPr lang="en-US" dirty="0"/>
            </a:br>
            <a:r>
              <a:rPr lang="en-US" dirty="0"/>
              <a:t>If a user:</a:t>
            </a:r>
          </a:p>
          <a:p>
            <a:r>
              <a:rPr lang="en-US" dirty="0"/>
              <a:t>browses too much,</a:t>
            </a:r>
          </a:p>
          <a:p>
            <a:r>
              <a:rPr lang="en-US" dirty="0"/>
              <a:t>exits early,</a:t>
            </a:r>
          </a:p>
          <a:p>
            <a:r>
              <a:rPr lang="en-US" dirty="0"/>
              <a:t>stops completing content,</a:t>
            </a:r>
          </a:p>
          <a:p>
            <a:r>
              <a:rPr lang="en-US" dirty="0"/>
              <a:t>the system can warn the company early.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Business Benefit</a:t>
            </a:r>
          </a:p>
          <a:p>
            <a:r>
              <a:rPr lang="en-US" dirty="0"/>
              <a:t>The company can:</a:t>
            </a:r>
          </a:p>
          <a:p>
            <a:r>
              <a:rPr lang="en-US" dirty="0"/>
              <a:t>send offers,</a:t>
            </a:r>
          </a:p>
          <a:p>
            <a:r>
              <a:rPr lang="en-US" dirty="0"/>
              <a:t>recommendations,</a:t>
            </a:r>
          </a:p>
          <a:p>
            <a:r>
              <a:rPr lang="en-US" dirty="0"/>
              <a:t>retention campaigns,</a:t>
            </a:r>
            <a:br>
              <a:rPr lang="en-US" dirty="0"/>
            </a:br>
            <a:r>
              <a:rPr lang="en-US" dirty="0"/>
              <a:t>before users leave.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2. Real-Time Analytics Pipeline</a:t>
            </a:r>
          </a:p>
          <a:p>
            <a:r>
              <a:rPr lang="en-US" dirty="0"/>
              <a:t>Simple meaning:</a:t>
            </a:r>
          </a:p>
          <a:p>
            <a:r>
              <a:rPr lang="en-US" dirty="0"/>
              <a:t>Analyze user behavior instantly while they are using the platform.</a:t>
            </a:r>
          </a:p>
          <a:p>
            <a:r>
              <a:rPr lang="en-US" dirty="0"/>
              <a:t>Example:</a:t>
            </a:r>
            <a:br>
              <a:rPr lang="en-US" dirty="0"/>
            </a:br>
            <a:r>
              <a:rPr lang="en-US" dirty="0"/>
              <a:t>If a user is confused or inactive,</a:t>
            </a:r>
            <a:br>
              <a:rPr lang="en-US" dirty="0"/>
            </a:br>
            <a:r>
              <a:rPr lang="en-US" dirty="0"/>
              <a:t>the system can immediately:</a:t>
            </a:r>
          </a:p>
          <a:p>
            <a:r>
              <a:rPr lang="en-US" dirty="0"/>
              <a:t>recommend content,</a:t>
            </a:r>
          </a:p>
          <a:p>
            <a:r>
              <a:rPr lang="en-US" dirty="0"/>
              <a:t>show prompts,</a:t>
            </a:r>
          </a:p>
          <a:p>
            <a:r>
              <a:rPr lang="en-US" dirty="0"/>
              <a:t>improve engagement.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Business Benefit</a:t>
            </a:r>
          </a:p>
          <a:p>
            <a:r>
              <a:rPr lang="en-US" dirty="0"/>
              <a:t>Faster intervention improves retention.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3. AI-Powered Recommendations</a:t>
            </a:r>
          </a:p>
          <a:p>
            <a:r>
              <a:rPr lang="en-US" dirty="0"/>
              <a:t>Simple meaning:</a:t>
            </a:r>
          </a:p>
          <a:p>
            <a:r>
              <a:rPr lang="en-US" dirty="0"/>
              <a:t>Use Artificial Intelligence to make smarter recommendations.</a:t>
            </a:r>
          </a:p>
          <a:p>
            <a:r>
              <a:rPr lang="en-US" dirty="0"/>
              <a:t>Instead of basic recommendations,</a:t>
            </a:r>
            <a:br>
              <a:rPr lang="en-US" dirty="0"/>
            </a:br>
            <a:r>
              <a:rPr lang="en-US" dirty="0"/>
              <a:t>AI can consider:</a:t>
            </a:r>
          </a:p>
          <a:p>
            <a:r>
              <a:rPr lang="en-US" dirty="0"/>
              <a:t>viewing time,</a:t>
            </a:r>
          </a:p>
          <a:p>
            <a:r>
              <a:rPr lang="en-US" dirty="0"/>
              <a:t>device,</a:t>
            </a:r>
          </a:p>
          <a:p>
            <a:r>
              <a:rPr lang="en-US" dirty="0"/>
              <a:t>user habits,</a:t>
            </a:r>
          </a:p>
          <a:p>
            <a:r>
              <a:rPr lang="en-US" dirty="0"/>
              <a:t>completion history.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Business Benefit</a:t>
            </a:r>
          </a:p>
          <a:p>
            <a:r>
              <a:rPr lang="en-US" dirty="0"/>
              <a:t>More personalized recommendations improve user satisfaction.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4. Dynamic User Segmentation</a:t>
            </a:r>
          </a:p>
          <a:p>
            <a:r>
              <a:rPr lang="en-US" dirty="0"/>
              <a:t>Simple meaning:</a:t>
            </a:r>
          </a:p>
          <a:p>
            <a:r>
              <a:rPr lang="en-US" dirty="0"/>
              <a:t>Automatically group users based on changing behavior.</a:t>
            </a:r>
          </a:p>
          <a:p>
            <a:r>
              <a:rPr lang="en-US" dirty="0"/>
              <a:t>Example:</a:t>
            </a:r>
            <a:br>
              <a:rPr lang="en-US" dirty="0"/>
            </a:br>
            <a:r>
              <a:rPr lang="en-US" dirty="0"/>
              <a:t>A user may move from:</a:t>
            </a:r>
          </a:p>
          <a:p>
            <a:r>
              <a:rPr lang="en-US" dirty="0"/>
              <a:t>engaged viewer</a:t>
            </a:r>
            <a:br>
              <a:rPr lang="en-US" dirty="0"/>
            </a:br>
            <a:r>
              <a:rPr lang="en-US" dirty="0"/>
              <a:t>to</a:t>
            </a:r>
          </a:p>
          <a:p>
            <a:r>
              <a:rPr lang="en-US" dirty="0"/>
              <a:t>churn-risk user.</a:t>
            </a:r>
          </a:p>
          <a:p>
            <a:r>
              <a:rPr lang="en-US" dirty="0"/>
              <a:t>The system updates segments automatically.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Business Benefit</a:t>
            </a:r>
          </a:p>
          <a:p>
            <a:r>
              <a:rPr lang="en-US" dirty="0"/>
              <a:t>Better targeting and personalization.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RIGHT SIDE — FINAL CONCLUSION</a:t>
            </a:r>
          </a:p>
          <a:p>
            <a:r>
              <a:rPr lang="en-US" dirty="0"/>
              <a:t>This is the MOST IMPORTANT message of the entire project.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FROM:</a:t>
            </a:r>
          </a:p>
          <a:p>
            <a:r>
              <a:rPr lang="en-US" b="1" dirty="0"/>
              <a:t>“We see what users are doing”</a:t>
            </a:r>
          </a:p>
          <a:p>
            <a:r>
              <a:rPr lang="en-US" dirty="0"/>
              <a:t>Simple meaning:</a:t>
            </a:r>
            <a:br>
              <a:rPr lang="en-US" dirty="0"/>
            </a:br>
            <a:r>
              <a:rPr lang="en-US" dirty="0"/>
              <a:t>traditional analytics only track:</a:t>
            </a:r>
          </a:p>
          <a:p>
            <a:r>
              <a:rPr lang="en-US" dirty="0"/>
              <a:t>clicks,</a:t>
            </a:r>
          </a:p>
          <a:p>
            <a:r>
              <a:rPr lang="en-US" dirty="0"/>
              <a:t>views,</a:t>
            </a:r>
          </a:p>
          <a:p>
            <a:r>
              <a:rPr lang="en-US" dirty="0"/>
              <a:t>watch time.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TO:</a:t>
            </a:r>
          </a:p>
          <a:p>
            <a:r>
              <a:rPr lang="en-US" b="1" dirty="0"/>
              <a:t>“We understand WHY they are doing it”</a:t>
            </a:r>
          </a:p>
          <a:p>
            <a:r>
              <a:rPr lang="en-US" dirty="0"/>
              <a:t>Simple meaning:</a:t>
            </a:r>
            <a:br>
              <a:rPr lang="en-US" dirty="0"/>
            </a:br>
            <a:r>
              <a:rPr lang="en-US" dirty="0"/>
              <a:t>your project goes deeper and analyzes:</a:t>
            </a:r>
          </a:p>
          <a:p>
            <a:r>
              <a:rPr lang="en-US" dirty="0"/>
              <a:t>behavior,</a:t>
            </a:r>
          </a:p>
          <a:p>
            <a:r>
              <a:rPr lang="en-US" dirty="0"/>
              <a:t>intent,</a:t>
            </a:r>
          </a:p>
          <a:p>
            <a:r>
              <a:rPr lang="en-US" dirty="0"/>
              <a:t>engagement quality,</a:t>
            </a:r>
          </a:p>
          <a:p>
            <a:r>
              <a:rPr lang="en-US" dirty="0"/>
              <a:t>churn signals.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MAIN PROJECT MESSAGE</a:t>
            </a:r>
          </a:p>
          <a:p>
            <a:r>
              <a:rPr lang="en-US" dirty="0"/>
              <a:t>Your project is not just:</a:t>
            </a:r>
          </a:p>
          <a:p>
            <a:r>
              <a:rPr lang="en-US" b="1" dirty="0"/>
              <a:t>activity tracking.</a:t>
            </a:r>
          </a:p>
          <a:p>
            <a:r>
              <a:rPr lang="en-US" dirty="0"/>
              <a:t>It is:</a:t>
            </a:r>
          </a:p>
          <a:p>
            <a:r>
              <a:rPr lang="en-US" b="1" dirty="0"/>
              <a:t>behavioral intelligence.</a:t>
            </a:r>
          </a:p>
          <a:p>
            <a:r>
              <a:rPr lang="en-US" dirty="0"/>
              <a:t>That is the core theme of your entire presentation.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BOTTOM LINE</a:t>
            </a:r>
          </a:p>
          <a:p>
            <a:r>
              <a:rPr lang="en-US" b="1" dirty="0"/>
              <a:t>“Transforming interaction data into engagement intelligence, retention strategy, and business decision support.”</a:t>
            </a:r>
          </a:p>
          <a:p>
            <a:r>
              <a:rPr lang="en-US" dirty="0"/>
              <a:t>Simple meaning:</a:t>
            </a:r>
          </a:p>
          <a:p>
            <a:r>
              <a:rPr lang="en-US" dirty="0"/>
              <a:t>“We converted raw user activity data into useful business insights that help improve retention and strategic decision-making.”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SIMPLE ONE-LINE EXPLANATION FOR VIVA</a:t>
            </a:r>
          </a:p>
          <a:p>
            <a:r>
              <a:rPr lang="en-US" dirty="0"/>
              <a:t>Say this:</a:t>
            </a:r>
          </a:p>
          <a:p>
            <a:r>
              <a:rPr lang="en-US"/>
              <a:t>“This slide summarizes how the project can evolve using AI and predictive analytics, while concluding that behavioral analytics provides deeper engagement intelligence than traditional activity metrics.”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2.xml"/><Relationship Id="rId4" Type="http://schemas.openxmlformats.org/officeDocument/2006/relationships/chart" Target="../charts/char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chart" Target="../charts/char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14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120640" cy="5143500"/>
          </a:xfrm>
          <a:prstGeom prst="rect">
            <a:avLst/>
          </a:prstGeom>
          <a:solidFill>
            <a:srgbClr val="F4F0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120640" cy="64008"/>
          </a:xfrm>
          <a:prstGeom prst="rect">
            <a:avLst/>
          </a:prstGeom>
          <a:solidFill>
            <a:srgbClr val="00B4C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1148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2D14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Unlocking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365760" y="96012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i="1" dirty="0">
                <a:solidFill>
                  <a:srgbClr val="0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Engagement Puzzle"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65760" y="160020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4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CRISP-DM Based SQL &amp; Power BI Analysis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B4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User Behavior and Content Performance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2331720"/>
            <a:ext cx="4389120" cy="36576"/>
          </a:xfrm>
          <a:prstGeom prst="rect">
            <a:avLst/>
          </a:prstGeom>
          <a:solidFill>
            <a:srgbClr val="00B4C8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246888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14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Business Problem: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761488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users disengage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drives retention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truly creates engagement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3657600"/>
            <a:ext cx="534924" cy="256032"/>
          </a:xfrm>
          <a:prstGeom prst="roundRect">
            <a:avLst>
              <a:gd name="adj" fmla="val 28571"/>
            </a:avLst>
          </a:prstGeom>
          <a:solidFill>
            <a:srgbClr val="00B4C8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3657600"/>
            <a:ext cx="5349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037844" y="3657600"/>
            <a:ext cx="969264" cy="256032"/>
          </a:xfrm>
          <a:prstGeom prst="roundRect">
            <a:avLst>
              <a:gd name="adj" fmla="val 28571"/>
            </a:avLst>
          </a:prstGeom>
          <a:solidFill>
            <a:srgbClr val="00B4C8"/>
          </a:solidFill>
          <a:ln/>
        </p:spPr>
      </p:sp>
      <p:sp>
        <p:nvSpPr>
          <p:cNvPr id="13" name="Text 11"/>
          <p:cNvSpPr/>
          <p:nvPr/>
        </p:nvSpPr>
        <p:spPr>
          <a:xfrm>
            <a:off x="1037844" y="3657600"/>
            <a:ext cx="969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144268" y="3657600"/>
            <a:ext cx="2011680" cy="256032"/>
          </a:xfrm>
          <a:prstGeom prst="roundRect">
            <a:avLst>
              <a:gd name="adj" fmla="val 28571"/>
            </a:avLst>
          </a:prstGeom>
          <a:solidFill>
            <a:srgbClr val="00B4C8"/>
          </a:solidFill>
          <a:ln/>
        </p:spPr>
      </p:sp>
      <p:sp>
        <p:nvSpPr>
          <p:cNvPr id="15" name="Text 13"/>
          <p:cNvSpPr/>
          <p:nvPr/>
        </p:nvSpPr>
        <p:spPr>
          <a:xfrm>
            <a:off x="2144268" y="36576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CRISP-DM Methodology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5760" y="404164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MBA Business Analytics Capstone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120640" y="0"/>
            <a:ext cx="4023360" cy="5143500"/>
          </a:xfrm>
          <a:prstGeom prst="rect">
            <a:avLst/>
          </a:prstGeom>
          <a:solidFill>
            <a:srgbClr val="1A0833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0" y="-731520"/>
            <a:ext cx="3200400" cy="3200400"/>
          </a:xfrm>
          <a:prstGeom prst="ellipse">
            <a:avLst/>
          </a:prstGeom>
          <a:solidFill>
            <a:srgbClr val="6B46C1">
              <a:alpha val="20000"/>
            </a:srgbClr>
          </a:solidFill>
          <a:ln w="6350">
            <a:solidFill>
              <a:srgbClr val="6B46C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58000" y="2011680"/>
            <a:ext cx="2286000" cy="2286000"/>
          </a:xfrm>
          <a:prstGeom prst="ellipse">
            <a:avLst/>
          </a:prstGeom>
          <a:solidFill>
            <a:srgbClr val="00B4C8">
              <a:alpha val="12000"/>
            </a:srgbClr>
          </a:solidFill>
          <a:ln w="6350">
            <a:solidFill>
              <a:srgbClr val="00B4C8"/>
            </a:solidFill>
            <a:prstDash val="solid"/>
          </a:ln>
        </p:spPr>
      </p:sp>
      <p:pic>
        <p:nvPicPr>
          <p:cNvPr id="20" name="Image 0" descr="/home/claude/streamsphere_logo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577840" y="1097280"/>
            <a:ext cx="2926080" cy="1005840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5212080" y="2468880"/>
            <a:ext cx="3840480" cy="2286000"/>
          </a:xfrm>
          <a:prstGeom prst="rect">
            <a:avLst/>
          </a:prstGeom>
          <a:solidFill>
            <a:srgbClr val="1E0A3C"/>
          </a:solidFill>
          <a:ln/>
          <a:effectLst>
            <a:outerShdw blurRad="1524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5212080" y="2468880"/>
            <a:ext cx="3840480" cy="45720"/>
          </a:xfrm>
          <a:prstGeom prst="rect">
            <a:avLst/>
          </a:prstGeom>
          <a:solidFill>
            <a:srgbClr val="00B4C8"/>
          </a:solidFill>
          <a:ln/>
        </p:spPr>
      </p:sp>
      <p:sp>
        <p:nvSpPr>
          <p:cNvPr id="23" name="Text 20"/>
          <p:cNvSpPr/>
          <p:nvPr/>
        </p:nvSpPr>
        <p:spPr>
          <a:xfrm>
            <a:off x="5349240" y="2578608"/>
            <a:ext cx="35661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StreamSphere generates thousands of clicks, views, and interactions every minute. Operationally, the platform looks successful. But our analysis revealed a dangerous blind spot — the company knew exactly what users were doing, but had no idea why.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274320" y="489204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StreamSphere Analytics Project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8595360" y="4892040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0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treamsphere_logo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38160" y="73152"/>
            <a:ext cx="914400" cy="3017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109728"/>
            <a:ext cx="7680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D14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vs. Understanding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365760" y="576072"/>
            <a:ext cx="8412480" cy="36576"/>
          </a:xfrm>
          <a:prstGeom prst="rect">
            <a:avLst/>
          </a:prstGeom>
          <a:solidFill>
            <a:srgbClr val="00B4C8"/>
          </a:solidFill>
          <a:ln/>
        </p:spPr>
      </p:sp>
      <p:sp>
        <p:nvSpPr>
          <p:cNvPr id="5" name="Shape 2"/>
          <p:cNvSpPr/>
          <p:nvPr/>
        </p:nvSpPr>
        <p:spPr>
          <a:xfrm>
            <a:off x="274320" y="731520"/>
            <a:ext cx="2606040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EDE9F6"/>
            </a:solidFill>
            <a:prstDash val="solid"/>
          </a:ln>
          <a:effectLst>
            <a:outerShdw blurRad="1524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74320" y="731520"/>
            <a:ext cx="2606040" cy="320040"/>
          </a:xfrm>
          <a:prstGeom prst="rect">
            <a:avLst/>
          </a:prstGeom>
          <a:solidFill>
            <a:srgbClr val="00B4C8"/>
          </a:solidFill>
          <a:ln/>
        </p:spPr>
      </p:sp>
      <p:sp>
        <p:nvSpPr>
          <p:cNvPr id="7" name="Text 4"/>
          <p:cNvSpPr/>
          <p:nvPr/>
        </p:nvSpPr>
        <p:spPr>
          <a:xfrm>
            <a:off x="320040" y="749808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Success</a:t>
            </a:r>
            <a:endParaRPr lang="en-US" sz="11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1188720"/>
            <a:ext cx="201168" cy="20116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8368" y="1170432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streaming activity</a:t>
            </a:r>
            <a:endParaRPr lang="en-US" sz="10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1847088"/>
            <a:ext cx="201168" cy="20116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58368" y="182880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subscriptions</a:t>
            </a:r>
            <a:endParaRPr lang="en-US" sz="10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2505456"/>
            <a:ext cx="201168" cy="20116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58368" y="248716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Expanding content library</a:t>
            </a:r>
            <a:endParaRPr lang="en-US" sz="10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3163824"/>
            <a:ext cx="201168" cy="201168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658368" y="3145536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user traffic</a:t>
            </a:r>
            <a:endParaRPr lang="en-US" sz="1050" dirty="0"/>
          </a:p>
        </p:txBody>
      </p:sp>
      <p:sp>
        <p:nvSpPr>
          <p:cNvPr id="16" name="Text 9"/>
          <p:cNvSpPr/>
          <p:nvPr/>
        </p:nvSpPr>
        <p:spPr>
          <a:xfrm>
            <a:off x="2971800" y="1417320"/>
            <a:ext cx="3200400" cy="347472"/>
          </a:xfrm>
          <a:prstGeom prst="rect">
            <a:avLst/>
          </a:prstGeom>
          <a:solidFill>
            <a:srgbClr val="00B4C8"/>
          </a:solidFill>
          <a:ln/>
        </p:spPr>
        <p:txBody>
          <a:bodyPr wrap="square" lIns="0" tIns="101600" rIns="10160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see what users are doing</a:t>
            </a:r>
            <a:endParaRPr lang="en-US" sz="1200" dirty="0"/>
          </a:p>
        </p:txBody>
      </p:sp>
      <p:sp>
        <p:nvSpPr>
          <p:cNvPr id="17" name="Shape 10"/>
          <p:cNvSpPr/>
          <p:nvPr/>
        </p:nvSpPr>
        <p:spPr>
          <a:xfrm>
            <a:off x="3657600" y="1965960"/>
            <a:ext cx="1828800" cy="1828800"/>
          </a:xfrm>
          <a:prstGeom prst="ellipse">
            <a:avLst/>
          </a:prstGeom>
          <a:solidFill>
            <a:srgbClr val="D9CFF0">
              <a:alpha val="60000"/>
            </a:srgbClr>
          </a:solidFill>
          <a:ln/>
        </p:spPr>
      </p:sp>
      <p:sp>
        <p:nvSpPr>
          <p:cNvPr id="18" name="Text 11"/>
          <p:cNvSpPr/>
          <p:nvPr/>
        </p:nvSpPr>
        <p:spPr>
          <a:xfrm>
            <a:off x="3474720" y="2011680"/>
            <a:ext cx="21945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6B4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≠</a:t>
            </a:r>
            <a:endParaRPr lang="en-US" sz="7200" dirty="0"/>
          </a:p>
        </p:txBody>
      </p:sp>
      <p:sp>
        <p:nvSpPr>
          <p:cNvPr id="19" name="Text 12"/>
          <p:cNvSpPr/>
          <p:nvPr/>
        </p:nvSpPr>
        <p:spPr>
          <a:xfrm>
            <a:off x="2971800" y="3886200"/>
            <a:ext cx="3200400" cy="347472"/>
          </a:xfrm>
          <a:prstGeom prst="rect">
            <a:avLst/>
          </a:prstGeom>
          <a:solidFill>
            <a:srgbClr val="2D144B"/>
          </a:solidFill>
          <a:ln/>
        </p:spPr>
        <p:txBody>
          <a:bodyPr wrap="square" lIns="0" tIns="101600" rIns="10160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understand WHY they are doing it</a:t>
            </a:r>
            <a:endParaRPr lang="en-US" sz="1200" dirty="0"/>
          </a:p>
        </p:txBody>
      </p:sp>
      <p:sp>
        <p:nvSpPr>
          <p:cNvPr id="20" name="Shape 13"/>
          <p:cNvSpPr/>
          <p:nvPr/>
        </p:nvSpPr>
        <p:spPr>
          <a:xfrm>
            <a:off x="5989320" y="731520"/>
            <a:ext cx="2606040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EDE9F6"/>
            </a:solidFill>
            <a:prstDash val="solid"/>
          </a:ln>
          <a:effectLst>
            <a:outerShdw blurRad="1524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4"/>
          <p:cNvSpPr/>
          <p:nvPr/>
        </p:nvSpPr>
        <p:spPr>
          <a:xfrm>
            <a:off x="5989320" y="731520"/>
            <a:ext cx="2606040" cy="320040"/>
          </a:xfrm>
          <a:prstGeom prst="rect">
            <a:avLst/>
          </a:prstGeom>
          <a:solidFill>
            <a:srgbClr val="2D144B"/>
          </a:solidFill>
          <a:ln/>
        </p:spPr>
      </p:sp>
      <p:sp>
        <p:nvSpPr>
          <p:cNvPr id="22" name="Text 15"/>
          <p:cNvSpPr/>
          <p:nvPr/>
        </p:nvSpPr>
        <p:spPr>
          <a:xfrm>
            <a:off x="6035040" y="749808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Complexity</a:t>
            </a:r>
            <a:endParaRPr lang="en-US" sz="1100" dirty="0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62472" y="1188720"/>
            <a:ext cx="182880" cy="18288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6309360" y="1170432"/>
            <a:ext cx="2148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Browsing without watching</a:t>
            </a:r>
            <a:endParaRPr lang="en-US" sz="1000" dirty="0"/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62472" y="1755648"/>
            <a:ext cx="182880" cy="182880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6309360" y="1737360"/>
            <a:ext cx="2148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exits before completion</a:t>
            </a:r>
            <a:endParaRPr lang="en-US" sz="1000" dirty="0"/>
          </a:p>
        </p:txBody>
      </p:sp>
      <p:pic>
        <p:nvPicPr>
          <p:cNvPr id="27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62472" y="2322576"/>
            <a:ext cx="182880" cy="182880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6309360" y="2304288"/>
            <a:ext cx="2148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pauses mid-content</a:t>
            </a:r>
            <a:endParaRPr lang="en-US" sz="1000" dirty="0"/>
          </a:p>
        </p:txBody>
      </p:sp>
      <p:pic>
        <p:nvPicPr>
          <p:cNvPr id="29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62472" y="2889504"/>
            <a:ext cx="182880" cy="182880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6309360" y="2871216"/>
            <a:ext cx="2148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subscription renewals</a:t>
            </a:r>
            <a:endParaRPr lang="en-US" sz="1000" dirty="0"/>
          </a:p>
        </p:txBody>
      </p:sp>
      <p:pic>
        <p:nvPicPr>
          <p:cNvPr id="31" name="Image 9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62472" y="3456432"/>
            <a:ext cx="182880" cy="182880"/>
          </a:xfrm>
          <a:prstGeom prst="rect">
            <a:avLst/>
          </a:prstGeom>
        </p:spPr>
      </p:pic>
      <p:sp>
        <p:nvSpPr>
          <p:cNvPr id="32" name="Text 20"/>
          <p:cNvSpPr/>
          <p:nvPr/>
        </p:nvSpPr>
        <p:spPr>
          <a:xfrm>
            <a:off x="6309360" y="3438144"/>
            <a:ext cx="2148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viewing patterns</a:t>
            </a:r>
            <a:endParaRPr lang="en-US" sz="1000" dirty="0"/>
          </a:p>
        </p:txBody>
      </p:sp>
      <p:sp>
        <p:nvSpPr>
          <p:cNvPr id="33" name="Shape 21"/>
          <p:cNvSpPr/>
          <p:nvPr/>
        </p:nvSpPr>
        <p:spPr>
          <a:xfrm>
            <a:off x="274320" y="4663440"/>
            <a:ext cx="8595360" cy="301752"/>
          </a:xfrm>
          <a:prstGeom prst="rect">
            <a:avLst/>
          </a:prstGeom>
          <a:solidFill>
            <a:srgbClr val="2D144B"/>
          </a:solidFill>
          <a:ln/>
        </p:spPr>
      </p:sp>
      <p:sp>
        <p:nvSpPr>
          <p:cNvPr id="34" name="Text 22"/>
          <p:cNvSpPr/>
          <p:nvPr/>
        </p:nvSpPr>
        <p:spPr>
          <a:xfrm>
            <a:off x="274320" y="4663440"/>
            <a:ext cx="8595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9C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metrics (views, watch time, clicks) fail to explain </a:t>
            </a:r>
            <a:r>
              <a:rPr lang="en-US" sz="1100" b="1" dirty="0">
                <a:solidFill>
                  <a:srgbClr val="0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quality, user intent, </a:t>
            </a:r>
            <a:r>
              <a:rPr lang="en-US" sz="1100" dirty="0">
                <a:solidFill>
                  <a:srgbClr val="D9C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</a:t>
            </a:r>
            <a:r>
              <a:rPr lang="en-US" sz="1100" b="1" dirty="0">
                <a:solidFill>
                  <a:srgbClr val="0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behavior.</a:t>
            </a:r>
            <a:endParaRPr lang="en-US" sz="1100" dirty="0"/>
          </a:p>
        </p:txBody>
      </p:sp>
      <p:sp>
        <p:nvSpPr>
          <p:cNvPr id="35" name="Text 23"/>
          <p:cNvSpPr/>
          <p:nvPr/>
        </p:nvSpPr>
        <p:spPr>
          <a:xfrm>
            <a:off x="274320" y="489204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StreamSphere Analytics Project</a:t>
            </a:r>
            <a:endParaRPr lang="en-US" sz="900" dirty="0"/>
          </a:p>
        </p:txBody>
      </p:sp>
      <p:sp>
        <p:nvSpPr>
          <p:cNvPr id="36" name="Text 24"/>
          <p:cNvSpPr/>
          <p:nvPr/>
        </p:nvSpPr>
        <p:spPr>
          <a:xfrm>
            <a:off x="8595360" y="4892040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0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treamsphere_logo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38160" y="73152"/>
            <a:ext cx="914400" cy="3017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109728"/>
            <a:ext cx="7680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D14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Business Questions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365760" y="576072"/>
            <a:ext cx="8412480" cy="36576"/>
          </a:xfrm>
          <a:prstGeom prst="rect">
            <a:avLst/>
          </a:prstGeom>
          <a:solidFill>
            <a:srgbClr val="00B4C8"/>
          </a:solidFill>
          <a:ln/>
        </p:spPr>
      </p:sp>
      <p:sp>
        <p:nvSpPr>
          <p:cNvPr id="5" name="Shape 2"/>
          <p:cNvSpPr/>
          <p:nvPr/>
        </p:nvSpPr>
        <p:spPr>
          <a:xfrm>
            <a:off x="274320" y="713232"/>
            <a:ext cx="795528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DE9F6"/>
            </a:solidFill>
            <a:prstDash val="solid"/>
          </a:ln>
          <a:effectLst>
            <a:outerShdw blurRad="1524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74320" y="713232"/>
            <a:ext cx="502920" cy="685800"/>
          </a:xfrm>
          <a:prstGeom prst="rect">
            <a:avLst/>
          </a:prstGeom>
          <a:solidFill>
            <a:srgbClr val="00B4C8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713232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868680" y="713232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factors influence whether users complete or abandon content?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274320" y="1508760"/>
            <a:ext cx="795528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DE9F6"/>
            </a:solidFill>
            <a:prstDash val="solid"/>
          </a:ln>
          <a:effectLst>
            <a:outerShdw blurRad="1524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74320" y="1508760"/>
            <a:ext cx="502920" cy="685800"/>
          </a:xfrm>
          <a:prstGeom prst="rect">
            <a:avLst/>
          </a:prstGeom>
          <a:solidFill>
            <a:srgbClr val="00B4C8"/>
          </a:solidFill>
          <a:ln/>
        </p:spPr>
      </p:sp>
      <p:sp>
        <p:nvSpPr>
          <p:cNvPr id="11" name="Text 8"/>
          <p:cNvSpPr/>
          <p:nvPr/>
        </p:nvSpPr>
        <p:spPr>
          <a:xfrm>
            <a:off x="274320" y="1508760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868680" y="150876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excessive browsing indicate exploration or choice paralysis?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274320" y="2304288"/>
            <a:ext cx="795528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DE9F6"/>
            </a:solidFill>
            <a:prstDash val="solid"/>
          </a:ln>
          <a:effectLst>
            <a:outerShdw blurRad="1524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74320" y="2304288"/>
            <a:ext cx="502920" cy="685800"/>
          </a:xfrm>
          <a:prstGeom prst="rect">
            <a:avLst/>
          </a:prstGeom>
          <a:solidFill>
            <a:srgbClr val="00B4C8"/>
          </a:solidFill>
          <a:ln/>
        </p:spPr>
      </p:sp>
      <p:sp>
        <p:nvSpPr>
          <p:cNvPr id="15" name="Text 12"/>
          <p:cNvSpPr/>
          <p:nvPr/>
        </p:nvSpPr>
        <p:spPr>
          <a:xfrm>
            <a:off x="274320" y="2304288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868680" y="2304288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content successful because of quality — or homepage placement?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274320" y="3099816"/>
            <a:ext cx="795528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DE9F6"/>
            </a:solidFill>
            <a:prstDash val="solid"/>
          </a:ln>
          <a:effectLst>
            <a:outerShdw blurRad="1524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274320" y="3099816"/>
            <a:ext cx="502920" cy="685800"/>
          </a:xfrm>
          <a:prstGeom prst="rect">
            <a:avLst/>
          </a:prstGeom>
          <a:solidFill>
            <a:srgbClr val="00B4C8"/>
          </a:solidFill>
          <a:ln/>
        </p:spPr>
      </p:sp>
      <p:sp>
        <p:nvSpPr>
          <p:cNvPr id="19" name="Text 16"/>
          <p:cNvSpPr/>
          <p:nvPr/>
        </p:nvSpPr>
        <p:spPr>
          <a:xfrm>
            <a:off x="274320" y="3099816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868680" y="3099816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behaviors differentiate loyal users from churn-risk users?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274320" y="3895344"/>
            <a:ext cx="795528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DE9F6"/>
            </a:solidFill>
            <a:prstDash val="solid"/>
          </a:ln>
          <a:effectLst>
            <a:outerShdw blurRad="1524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274320" y="3895344"/>
            <a:ext cx="502920" cy="685800"/>
          </a:xfrm>
          <a:prstGeom prst="rect">
            <a:avLst/>
          </a:prstGeom>
          <a:solidFill>
            <a:srgbClr val="00B4C8"/>
          </a:solidFill>
          <a:ln/>
        </p:spPr>
      </p:sp>
      <p:sp>
        <p:nvSpPr>
          <p:cNvPr id="23" name="Text 20"/>
          <p:cNvSpPr/>
          <p:nvPr/>
        </p:nvSpPr>
        <p:spPr>
          <a:xfrm>
            <a:off x="274320" y="3895344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868680" y="3895344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time-of-day and viewing patterns affect engagement quality?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274320" y="489204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StreamSphere Analytics Project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8595360" y="4892040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0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treamsphere_logo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38160" y="73152"/>
            <a:ext cx="914400" cy="3017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109728"/>
            <a:ext cx="7680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D14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Behavioral Intelligence Engine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365760" y="576072"/>
            <a:ext cx="8412480" cy="36576"/>
          </a:xfrm>
          <a:prstGeom prst="rect">
            <a:avLst/>
          </a:prstGeom>
          <a:solidFill>
            <a:srgbClr val="00B4C8"/>
          </a:solidFill>
          <a:ln/>
        </p:spPr>
      </p:sp>
      <p:sp>
        <p:nvSpPr>
          <p:cNvPr id="5" name="Shape 2"/>
          <p:cNvSpPr/>
          <p:nvPr/>
        </p:nvSpPr>
        <p:spPr>
          <a:xfrm>
            <a:off x="274320" y="713232"/>
            <a:ext cx="2697480" cy="3794760"/>
          </a:xfrm>
          <a:prstGeom prst="rect">
            <a:avLst/>
          </a:prstGeom>
          <a:solidFill>
            <a:srgbClr val="FFFFFF"/>
          </a:solidFill>
          <a:ln w="6350">
            <a:solidFill>
              <a:srgbClr val="EDE9F6"/>
            </a:solidFill>
            <a:prstDash val="solid"/>
          </a:ln>
          <a:effectLst>
            <a:outerShdw blurRad="1524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74320" y="713232"/>
            <a:ext cx="2697480" cy="347472"/>
          </a:xfrm>
          <a:prstGeom prst="rect">
            <a:avLst/>
          </a:prstGeom>
          <a:solidFill>
            <a:srgbClr val="2D144B"/>
          </a:solidFill>
          <a:ln/>
        </p:spPr>
      </p:sp>
      <p:sp>
        <p:nvSpPr>
          <p:cNvPr id="7" name="Text 4"/>
          <p:cNvSpPr/>
          <p:nvPr/>
        </p:nvSpPr>
        <p:spPr>
          <a:xfrm>
            <a:off x="347472" y="731520"/>
            <a:ext cx="25511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 Design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347472" y="1097280"/>
            <a:ext cx="25511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0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Foundation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47472" y="1371600"/>
            <a:ext cx="45720" cy="201168"/>
          </a:xfrm>
          <a:prstGeom prst="rect">
            <a:avLst/>
          </a:prstGeom>
          <a:solidFill>
            <a:srgbClr val="00B4C8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135331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dim_users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47472" y="1737360"/>
            <a:ext cx="45720" cy="201168"/>
          </a:xfrm>
          <a:prstGeom prst="rect">
            <a:avLst/>
          </a:prstGeom>
          <a:solidFill>
            <a:srgbClr val="00B4C8"/>
          </a:solidFill>
          <a:ln/>
        </p:spPr>
      </p:sp>
      <p:sp>
        <p:nvSpPr>
          <p:cNvPr id="12" name="Text 9"/>
          <p:cNvSpPr/>
          <p:nvPr/>
        </p:nvSpPr>
        <p:spPr>
          <a:xfrm>
            <a:off x="457200" y="171907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dim_content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47472" y="2103120"/>
            <a:ext cx="45720" cy="201168"/>
          </a:xfrm>
          <a:prstGeom prst="rect">
            <a:avLst/>
          </a:prstGeom>
          <a:solidFill>
            <a:srgbClr val="00B4C8"/>
          </a:solidFill>
          <a:ln/>
        </p:spPr>
      </p:sp>
      <p:sp>
        <p:nvSpPr>
          <p:cNvPr id="14" name="Text 11"/>
          <p:cNvSpPr/>
          <p:nvPr/>
        </p:nvSpPr>
        <p:spPr>
          <a:xfrm>
            <a:off x="457200" y="208483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dim_time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347472" y="2468880"/>
            <a:ext cx="45720" cy="201168"/>
          </a:xfrm>
          <a:prstGeom prst="rect">
            <a:avLst/>
          </a:prstGeom>
          <a:solidFill>
            <a:srgbClr val="00B4C8"/>
          </a:solidFill>
          <a:ln/>
        </p:spPr>
      </p:sp>
      <p:sp>
        <p:nvSpPr>
          <p:cNvPr id="16" name="Text 13"/>
          <p:cNvSpPr/>
          <p:nvPr/>
        </p:nvSpPr>
        <p:spPr>
          <a:xfrm>
            <a:off x="457200" y="245059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fact_interactions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347472" y="2834640"/>
            <a:ext cx="45720" cy="201168"/>
          </a:xfrm>
          <a:prstGeom prst="rect">
            <a:avLst/>
          </a:prstGeom>
          <a:solidFill>
            <a:srgbClr val="00B4C8"/>
          </a:solidFill>
          <a:ln/>
        </p:spPr>
      </p:sp>
      <p:sp>
        <p:nvSpPr>
          <p:cNvPr id="18" name="Text 15"/>
          <p:cNvSpPr/>
          <p:nvPr/>
        </p:nvSpPr>
        <p:spPr>
          <a:xfrm>
            <a:off x="457200" y="281635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fact_subscriptions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3026664" y="2395728"/>
            <a:ext cx="109728" cy="36576"/>
          </a:xfrm>
          <a:prstGeom prst="rect">
            <a:avLst/>
          </a:prstGeom>
          <a:solidFill>
            <a:srgbClr val="00B4C8"/>
          </a:solidFill>
          <a:ln/>
        </p:spPr>
      </p:sp>
      <p:sp>
        <p:nvSpPr>
          <p:cNvPr id="20" name="Text 17"/>
          <p:cNvSpPr/>
          <p:nvPr/>
        </p:nvSpPr>
        <p:spPr>
          <a:xfrm>
            <a:off x="3017520" y="2267712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3182112" y="713232"/>
            <a:ext cx="2697480" cy="3794760"/>
          </a:xfrm>
          <a:prstGeom prst="rect">
            <a:avLst/>
          </a:prstGeom>
          <a:solidFill>
            <a:srgbClr val="FFFFFF"/>
          </a:solidFill>
          <a:ln w="6350">
            <a:solidFill>
              <a:srgbClr val="EDE9F6"/>
            </a:solidFill>
            <a:prstDash val="solid"/>
          </a:ln>
          <a:effectLst>
            <a:outerShdw blurRad="1524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3182112" y="713232"/>
            <a:ext cx="2697480" cy="347472"/>
          </a:xfrm>
          <a:prstGeom prst="rect">
            <a:avLst/>
          </a:prstGeom>
          <a:solidFill>
            <a:srgbClr val="6B46C1"/>
          </a:solidFill>
          <a:ln/>
        </p:spPr>
      </p:sp>
      <p:sp>
        <p:nvSpPr>
          <p:cNvPr id="23" name="Text 20"/>
          <p:cNvSpPr/>
          <p:nvPr/>
        </p:nvSpPr>
        <p:spPr>
          <a:xfrm>
            <a:off x="3255264" y="731520"/>
            <a:ext cx="25511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Analytical Engine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3255264" y="1097280"/>
            <a:ext cx="25511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0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Tracking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3255264" y="1371600"/>
            <a:ext cx="45720" cy="201168"/>
          </a:xfrm>
          <a:prstGeom prst="rect">
            <a:avLst/>
          </a:prstGeom>
          <a:solidFill>
            <a:srgbClr val="00B4C8"/>
          </a:solidFill>
          <a:ln/>
        </p:spPr>
      </p:sp>
      <p:sp>
        <p:nvSpPr>
          <p:cNvPr id="26" name="Text 23"/>
          <p:cNvSpPr/>
          <p:nvPr/>
        </p:nvSpPr>
        <p:spPr>
          <a:xfrm>
            <a:off x="3364992" y="135331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Browsing sessions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3255264" y="1737360"/>
            <a:ext cx="45720" cy="201168"/>
          </a:xfrm>
          <a:prstGeom prst="rect">
            <a:avLst/>
          </a:prstGeom>
          <a:solidFill>
            <a:srgbClr val="00B4C8"/>
          </a:solidFill>
          <a:ln/>
        </p:spPr>
      </p:sp>
      <p:sp>
        <p:nvSpPr>
          <p:cNvPr id="28" name="Text 25"/>
          <p:cNvSpPr/>
          <p:nvPr/>
        </p:nvSpPr>
        <p:spPr>
          <a:xfrm>
            <a:off x="3364992" y="171907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behavior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3255264" y="2103120"/>
            <a:ext cx="45720" cy="201168"/>
          </a:xfrm>
          <a:prstGeom prst="rect">
            <a:avLst/>
          </a:prstGeom>
          <a:solidFill>
            <a:srgbClr val="00B4C8"/>
          </a:solidFill>
          <a:ln/>
        </p:spPr>
      </p:sp>
      <p:sp>
        <p:nvSpPr>
          <p:cNvPr id="30" name="Text 27"/>
          <p:cNvSpPr/>
          <p:nvPr/>
        </p:nvSpPr>
        <p:spPr>
          <a:xfrm>
            <a:off x="3364992" y="208483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sessions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3255264" y="2468880"/>
            <a:ext cx="45720" cy="201168"/>
          </a:xfrm>
          <a:prstGeom prst="rect">
            <a:avLst/>
          </a:prstGeom>
          <a:solidFill>
            <a:srgbClr val="00B4C8"/>
          </a:solidFill>
          <a:ln/>
        </p:spPr>
      </p:sp>
      <p:sp>
        <p:nvSpPr>
          <p:cNvPr id="32" name="Text 29"/>
          <p:cNvSpPr/>
          <p:nvPr/>
        </p:nvSpPr>
        <p:spPr>
          <a:xfrm>
            <a:off x="3364992" y="245059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events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3255264" y="2834640"/>
            <a:ext cx="45720" cy="201168"/>
          </a:xfrm>
          <a:prstGeom prst="rect">
            <a:avLst/>
          </a:prstGeom>
          <a:solidFill>
            <a:srgbClr val="00B4C8"/>
          </a:solidFill>
          <a:ln/>
        </p:spPr>
      </p:sp>
      <p:sp>
        <p:nvSpPr>
          <p:cNvPr id="34" name="Text 31"/>
          <p:cNvSpPr/>
          <p:nvPr/>
        </p:nvSpPr>
        <p:spPr>
          <a:xfrm>
            <a:off x="3364992" y="281635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exits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3255264" y="3200400"/>
            <a:ext cx="45720" cy="201168"/>
          </a:xfrm>
          <a:prstGeom prst="rect">
            <a:avLst/>
          </a:prstGeom>
          <a:solidFill>
            <a:srgbClr val="00B4C8"/>
          </a:solidFill>
          <a:ln/>
        </p:spPr>
      </p:sp>
      <p:sp>
        <p:nvSpPr>
          <p:cNvPr id="36" name="Text 33"/>
          <p:cNvSpPr/>
          <p:nvPr/>
        </p:nvSpPr>
        <p:spPr>
          <a:xfrm>
            <a:off x="3364992" y="318211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Renewals &amp; cancellations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5934456" y="2395728"/>
            <a:ext cx="109728" cy="36576"/>
          </a:xfrm>
          <a:prstGeom prst="rect">
            <a:avLst/>
          </a:prstGeom>
          <a:solidFill>
            <a:srgbClr val="00B4C8"/>
          </a:solidFill>
          <a:ln/>
        </p:spPr>
      </p:sp>
      <p:sp>
        <p:nvSpPr>
          <p:cNvPr id="38" name="Text 35"/>
          <p:cNvSpPr/>
          <p:nvPr/>
        </p:nvSpPr>
        <p:spPr>
          <a:xfrm>
            <a:off x="5925312" y="2267712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800" dirty="0"/>
          </a:p>
        </p:txBody>
      </p:sp>
      <p:sp>
        <p:nvSpPr>
          <p:cNvPr id="39" name="Shape 36"/>
          <p:cNvSpPr/>
          <p:nvPr/>
        </p:nvSpPr>
        <p:spPr>
          <a:xfrm>
            <a:off x="6089904" y="713232"/>
            <a:ext cx="2697480" cy="3794760"/>
          </a:xfrm>
          <a:prstGeom prst="rect">
            <a:avLst/>
          </a:prstGeom>
          <a:solidFill>
            <a:srgbClr val="FFFFFF"/>
          </a:solidFill>
          <a:ln w="6350">
            <a:solidFill>
              <a:srgbClr val="EDE9F6"/>
            </a:solidFill>
            <a:prstDash val="solid"/>
          </a:ln>
          <a:effectLst>
            <a:outerShdw blurRad="1524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6089904" y="713232"/>
            <a:ext cx="2697480" cy="347472"/>
          </a:xfrm>
          <a:prstGeom prst="rect">
            <a:avLst/>
          </a:prstGeom>
          <a:solidFill>
            <a:srgbClr val="2D144B"/>
          </a:solidFill>
          <a:ln/>
        </p:spPr>
      </p:sp>
      <p:sp>
        <p:nvSpPr>
          <p:cNvPr id="41" name="Text 38"/>
          <p:cNvSpPr/>
          <p:nvPr/>
        </p:nvSpPr>
        <p:spPr>
          <a:xfrm>
            <a:off x="6163056" y="731520"/>
            <a:ext cx="25511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Behavioral Metrics</a:t>
            </a:r>
            <a:endParaRPr lang="en-US" sz="1150" dirty="0"/>
          </a:p>
        </p:txBody>
      </p:sp>
      <p:sp>
        <p:nvSpPr>
          <p:cNvPr id="42" name="Text 39"/>
          <p:cNvSpPr/>
          <p:nvPr/>
        </p:nvSpPr>
        <p:spPr>
          <a:xfrm>
            <a:off x="6163056" y="1097280"/>
            <a:ext cx="25511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0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Output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6163056" y="1371600"/>
            <a:ext cx="45720" cy="201168"/>
          </a:xfrm>
          <a:prstGeom prst="rect">
            <a:avLst/>
          </a:prstGeom>
          <a:solidFill>
            <a:srgbClr val="00B4C8"/>
          </a:solidFill>
          <a:ln/>
        </p:spPr>
      </p:sp>
      <p:sp>
        <p:nvSpPr>
          <p:cNvPr id="44" name="Text 41"/>
          <p:cNvSpPr/>
          <p:nvPr/>
        </p:nvSpPr>
        <p:spPr>
          <a:xfrm>
            <a:off x="6272784" y="135331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 Percentage</a:t>
            </a:r>
            <a:endParaRPr lang="en-US" sz="1050" dirty="0"/>
          </a:p>
        </p:txBody>
      </p:sp>
      <p:sp>
        <p:nvSpPr>
          <p:cNvPr id="45" name="Shape 42"/>
          <p:cNvSpPr/>
          <p:nvPr/>
        </p:nvSpPr>
        <p:spPr>
          <a:xfrm>
            <a:off x="6163056" y="1737360"/>
            <a:ext cx="45720" cy="201168"/>
          </a:xfrm>
          <a:prstGeom prst="rect">
            <a:avLst/>
          </a:prstGeom>
          <a:solidFill>
            <a:srgbClr val="00B4C8"/>
          </a:solidFill>
          <a:ln/>
        </p:spPr>
      </p:sp>
      <p:sp>
        <p:nvSpPr>
          <p:cNvPr id="46" name="Text 43"/>
          <p:cNvSpPr/>
          <p:nvPr/>
        </p:nvSpPr>
        <p:spPr>
          <a:xfrm>
            <a:off x="6272784" y="171907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Duration</a:t>
            </a:r>
            <a:endParaRPr lang="en-US" sz="1050" dirty="0"/>
          </a:p>
        </p:txBody>
      </p:sp>
      <p:sp>
        <p:nvSpPr>
          <p:cNvPr id="47" name="Shape 44"/>
          <p:cNvSpPr/>
          <p:nvPr/>
        </p:nvSpPr>
        <p:spPr>
          <a:xfrm>
            <a:off x="6163056" y="2103120"/>
            <a:ext cx="45720" cy="201168"/>
          </a:xfrm>
          <a:prstGeom prst="rect">
            <a:avLst/>
          </a:prstGeom>
          <a:solidFill>
            <a:srgbClr val="00B4C8"/>
          </a:solidFill>
          <a:ln/>
        </p:spPr>
      </p:sp>
      <p:sp>
        <p:nvSpPr>
          <p:cNvPr id="48" name="Text 45"/>
          <p:cNvSpPr/>
          <p:nvPr/>
        </p:nvSpPr>
        <p:spPr>
          <a:xfrm>
            <a:off x="6272784" y="208483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Duration</a:t>
            </a:r>
            <a:endParaRPr lang="en-US" sz="1050" dirty="0"/>
          </a:p>
        </p:txBody>
      </p:sp>
      <p:sp>
        <p:nvSpPr>
          <p:cNvPr id="49" name="Shape 46"/>
          <p:cNvSpPr/>
          <p:nvPr/>
        </p:nvSpPr>
        <p:spPr>
          <a:xfrm>
            <a:off x="6163056" y="2468880"/>
            <a:ext cx="45720" cy="201168"/>
          </a:xfrm>
          <a:prstGeom prst="rect">
            <a:avLst/>
          </a:prstGeom>
          <a:solidFill>
            <a:srgbClr val="00B4C8"/>
          </a:solidFill>
          <a:ln/>
        </p:spPr>
      </p:sp>
      <p:sp>
        <p:nvSpPr>
          <p:cNvPr id="50" name="Text 47"/>
          <p:cNvSpPr/>
          <p:nvPr/>
        </p:nvSpPr>
        <p:spPr>
          <a:xfrm>
            <a:off x="6272784" y="245059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Count</a:t>
            </a:r>
            <a:endParaRPr lang="en-US" sz="1050" dirty="0"/>
          </a:p>
        </p:txBody>
      </p:sp>
      <p:sp>
        <p:nvSpPr>
          <p:cNvPr id="51" name="Shape 48"/>
          <p:cNvSpPr/>
          <p:nvPr/>
        </p:nvSpPr>
        <p:spPr>
          <a:xfrm>
            <a:off x="6163056" y="2834640"/>
            <a:ext cx="45720" cy="201168"/>
          </a:xfrm>
          <a:prstGeom prst="rect">
            <a:avLst/>
          </a:prstGeom>
          <a:solidFill>
            <a:srgbClr val="00B4C8"/>
          </a:solidFill>
          <a:ln/>
        </p:spPr>
      </p:sp>
      <p:sp>
        <p:nvSpPr>
          <p:cNvPr id="52" name="Text 49"/>
          <p:cNvSpPr/>
          <p:nvPr/>
        </p:nvSpPr>
        <p:spPr>
          <a:xfrm>
            <a:off x="6272784" y="281635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 Tier</a:t>
            </a:r>
            <a:endParaRPr lang="en-US" sz="1050" dirty="0"/>
          </a:p>
        </p:txBody>
      </p:sp>
      <p:sp>
        <p:nvSpPr>
          <p:cNvPr id="53" name="Shape 50"/>
          <p:cNvSpPr/>
          <p:nvPr/>
        </p:nvSpPr>
        <p:spPr>
          <a:xfrm>
            <a:off x="6163056" y="3200400"/>
            <a:ext cx="45720" cy="201168"/>
          </a:xfrm>
          <a:prstGeom prst="rect">
            <a:avLst/>
          </a:prstGeom>
          <a:solidFill>
            <a:srgbClr val="00B4C8"/>
          </a:solidFill>
          <a:ln/>
        </p:spPr>
      </p:sp>
      <p:sp>
        <p:nvSpPr>
          <p:cNvPr id="54" name="Text 51"/>
          <p:cNvSpPr/>
          <p:nvPr/>
        </p:nvSpPr>
        <p:spPr>
          <a:xfrm>
            <a:off x="6272784" y="318211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Exit Rate</a:t>
            </a:r>
            <a:endParaRPr lang="en-US" sz="1050" dirty="0"/>
          </a:p>
        </p:txBody>
      </p:sp>
      <p:sp>
        <p:nvSpPr>
          <p:cNvPr id="55" name="Shape 52"/>
          <p:cNvSpPr/>
          <p:nvPr/>
        </p:nvSpPr>
        <p:spPr>
          <a:xfrm>
            <a:off x="274320" y="4645152"/>
            <a:ext cx="8595360" cy="320040"/>
          </a:xfrm>
          <a:prstGeom prst="rect">
            <a:avLst/>
          </a:prstGeom>
          <a:solidFill>
            <a:srgbClr val="2D144B"/>
          </a:solidFill>
          <a:ln/>
        </p:spPr>
      </p:sp>
      <p:sp>
        <p:nvSpPr>
          <p:cNvPr id="56" name="Text 53"/>
          <p:cNvSpPr/>
          <p:nvPr/>
        </p:nvSpPr>
        <p:spPr>
          <a:xfrm>
            <a:off x="274320" y="4645152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fragmented interaction data into engagement intelligence.</a:t>
            </a:r>
            <a:endParaRPr lang="en-US" sz="1200" dirty="0"/>
          </a:p>
        </p:txBody>
      </p:sp>
      <p:sp>
        <p:nvSpPr>
          <p:cNvPr id="57" name="Text 54"/>
          <p:cNvSpPr/>
          <p:nvPr/>
        </p:nvSpPr>
        <p:spPr>
          <a:xfrm>
            <a:off x="274320" y="489204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StreamSphere Analytics Project</a:t>
            </a:r>
            <a:endParaRPr lang="en-US" sz="900" dirty="0"/>
          </a:p>
        </p:txBody>
      </p:sp>
      <p:sp>
        <p:nvSpPr>
          <p:cNvPr id="58" name="Text 55"/>
          <p:cNvSpPr/>
          <p:nvPr/>
        </p:nvSpPr>
        <p:spPr>
          <a:xfrm>
            <a:off x="8595360" y="4892040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0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treamsphere_logo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38160" y="73152"/>
            <a:ext cx="914400" cy="3017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109728"/>
            <a:ext cx="7680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D14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Visibility Paradox: High Views ≠ High Value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365760" y="576072"/>
            <a:ext cx="8412480" cy="36576"/>
          </a:xfrm>
          <a:prstGeom prst="rect">
            <a:avLst/>
          </a:prstGeom>
          <a:solidFill>
            <a:srgbClr val="00B4C8"/>
          </a:solidFill>
          <a:ln/>
        </p:spPr>
      </p:sp>
      <p:sp>
        <p:nvSpPr>
          <p:cNvPr id="5" name="Shape 2"/>
          <p:cNvSpPr/>
          <p:nvPr/>
        </p:nvSpPr>
        <p:spPr>
          <a:xfrm>
            <a:off x="1371600" y="658368"/>
            <a:ext cx="6400800" cy="310896"/>
          </a:xfrm>
          <a:prstGeom prst="roundRect">
            <a:avLst>
              <a:gd name="adj" fmla="val 23529"/>
            </a:avLst>
          </a:prstGeom>
          <a:solidFill>
            <a:srgbClr val="2D144B"/>
          </a:solidFill>
          <a:ln/>
        </p:spPr>
      </p:sp>
      <p:sp>
        <p:nvSpPr>
          <p:cNvPr id="6" name="Text 3"/>
          <p:cNvSpPr/>
          <p:nvPr/>
        </p:nvSpPr>
        <p:spPr>
          <a:xfrm>
            <a:off x="1371600" y="658368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content successful because users value it — or because the platform promotes it?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274320" y="1051560"/>
            <a:ext cx="347472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DE9F6"/>
            </a:solidFill>
            <a:prstDash val="solid"/>
          </a:ln>
          <a:effectLst>
            <a:outerShdw blurRad="1524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274320" y="1051560"/>
            <a:ext cx="3474720" cy="301752"/>
          </a:xfrm>
          <a:prstGeom prst="rect">
            <a:avLst/>
          </a:prstGeom>
          <a:solidFill>
            <a:srgbClr val="6B46C1"/>
          </a:solidFill>
          <a:ln/>
        </p:spPr>
      </p:sp>
      <p:sp>
        <p:nvSpPr>
          <p:cNvPr id="9" name="Text 6"/>
          <p:cNvSpPr/>
          <p:nvPr/>
        </p:nvSpPr>
        <p:spPr>
          <a:xfrm>
            <a:off x="320040" y="1069848"/>
            <a:ext cx="33832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 — Homepage Featured Content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11480" y="1426464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D14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2.1M+</a:t>
            </a:r>
            <a:endParaRPr lang="en-US" sz="3600" dirty="0"/>
          </a:p>
        </p:txBody>
      </p:sp>
      <p:sp>
        <p:nvSpPr>
          <p:cNvPr id="11" name="Text 8"/>
          <p:cNvSpPr/>
          <p:nvPr/>
        </p:nvSpPr>
        <p:spPr>
          <a:xfrm>
            <a:off x="411480" y="1901952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2057400" y="1426464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44.2%</a:t>
            </a:r>
            <a:endParaRPr lang="en-US" sz="3600" dirty="0"/>
          </a:p>
        </p:txBody>
      </p:sp>
      <p:sp>
        <p:nvSpPr>
          <p:cNvPr id="13" name="Text 10"/>
          <p:cNvSpPr/>
          <p:nvPr/>
        </p:nvSpPr>
        <p:spPr>
          <a:xfrm>
            <a:off x="2057400" y="1901952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Exit Rate ⚠️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411480" y="214884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the illusion of success through visibility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274320" y="2926080"/>
            <a:ext cx="347472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DE9F6"/>
            </a:solidFill>
            <a:prstDash val="solid"/>
          </a:ln>
          <a:effectLst>
            <a:outerShdw blurRad="1524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274320" y="2926080"/>
            <a:ext cx="3474720" cy="301752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17" name="Text 14"/>
          <p:cNvSpPr/>
          <p:nvPr/>
        </p:nvSpPr>
        <p:spPr>
          <a:xfrm>
            <a:off x="320040" y="2944368"/>
            <a:ext cx="33832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 — Organic / Search Content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457200" y="3310128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88.1%</a:t>
            </a:r>
            <a:endParaRPr lang="en-US" sz="4200" dirty="0"/>
          </a:p>
        </p:txBody>
      </p:sp>
      <p:sp>
        <p:nvSpPr>
          <p:cNvPr id="19" name="Text 16"/>
          <p:cNvSpPr/>
          <p:nvPr/>
        </p:nvSpPr>
        <p:spPr>
          <a:xfrm>
            <a:off x="457200" y="384048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 Rate ✓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457200" y="40690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Represents genuine engagement and intentional viewing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3931920" y="1051560"/>
            <a:ext cx="489204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DE9F6"/>
            </a:solidFill>
            <a:prstDash val="solid"/>
          </a:ln>
          <a:effectLst>
            <a:outerShdw blurRad="1524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3931920" y="1051560"/>
            <a:ext cx="4892040" cy="301752"/>
          </a:xfrm>
          <a:prstGeom prst="rect">
            <a:avLst/>
          </a:prstGeom>
          <a:solidFill>
            <a:srgbClr val="2D144B"/>
          </a:solidFill>
          <a:ln/>
        </p:spPr>
      </p:sp>
      <p:sp>
        <p:nvSpPr>
          <p:cNvPr id="23" name="Text 20"/>
          <p:cNvSpPr/>
          <p:nvPr/>
        </p:nvSpPr>
        <p:spPr>
          <a:xfrm>
            <a:off x="3977640" y="1069848"/>
            <a:ext cx="480060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Performance Matrix  |  Completed / Dropped / Paused</a:t>
            </a:r>
            <a:endParaRPr lang="en-US" sz="10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5966466"/>
              </p:ext>
            </p:extLst>
          </p:nvPr>
        </p:nvGraphicFramePr>
        <p:xfrm>
          <a:off x="3977640" y="1417320"/>
          <a:ext cx="4846319" cy="2700528"/>
        </p:xfrm>
        <a:graphic>
          <a:graphicData uri="http://schemas.openxmlformats.org/drawingml/2006/table">
            <a:tbl>
              <a:tblPr/>
              <a:tblGrid>
                <a:gridCol w="18382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20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20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520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20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6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6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Dropped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6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Paused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6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6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Mumbai Chronicles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8A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Silent Room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8A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53E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Cyber City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8A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53E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Ocean Deep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Laugh Track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8A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Galactic Wars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53E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Kerala Nights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274320" y="452628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 creates attention.  </a:t>
            </a:r>
            <a:r>
              <a:rPr lang="en-US" sz="1150" b="1" dirty="0">
                <a:solidFill>
                  <a:srgbClr val="2D14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 reflects actual engagement quality.</a:t>
            </a:r>
            <a:endParaRPr lang="en-US" sz="1150" dirty="0"/>
          </a:p>
        </p:txBody>
      </p:sp>
      <p:sp>
        <p:nvSpPr>
          <p:cNvPr id="26" name="Text 22"/>
          <p:cNvSpPr/>
          <p:nvPr/>
        </p:nvSpPr>
        <p:spPr>
          <a:xfrm>
            <a:off x="274320" y="489204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StreamSphere Analytics Project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8595360" y="4892040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BFD2ED48-0587-A4F5-36E7-8B678D0382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7640" y="1421239"/>
            <a:ext cx="4846320" cy="269660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0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treamsphere_logo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38160" y="73152"/>
            <a:ext cx="914400" cy="3017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109728"/>
            <a:ext cx="7680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D14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Fatigue: The Silent Driver of Churn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365760" y="576072"/>
            <a:ext cx="8412480" cy="36576"/>
          </a:xfrm>
          <a:prstGeom prst="rect">
            <a:avLst/>
          </a:prstGeom>
          <a:solidFill>
            <a:srgbClr val="00B4C8"/>
          </a:solidFill>
          <a:ln/>
        </p:spPr>
      </p:sp>
      <p:sp>
        <p:nvSpPr>
          <p:cNvPr id="5" name="Shape 2"/>
          <p:cNvSpPr/>
          <p:nvPr/>
        </p:nvSpPr>
        <p:spPr>
          <a:xfrm>
            <a:off x="274320" y="713232"/>
            <a:ext cx="347472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DE9F6"/>
            </a:solidFill>
            <a:prstDash val="solid"/>
          </a:ln>
          <a:effectLst>
            <a:outerShdw blurRad="1524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74320" y="713232"/>
            <a:ext cx="3474720" cy="274320"/>
          </a:xfrm>
          <a:prstGeom prst="rect">
            <a:avLst/>
          </a:prstGeom>
          <a:solidFill>
            <a:srgbClr val="2D144B"/>
          </a:solidFill>
          <a:ln/>
        </p:spPr>
      </p:sp>
      <p:sp>
        <p:nvSpPr>
          <p:cNvPr id="7" name="Text 4"/>
          <p:cNvSpPr/>
          <p:nvPr/>
        </p:nvSpPr>
        <p:spPr>
          <a:xfrm>
            <a:off x="320040" y="731520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320040" y="1042416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Browsing &gt; 10 minutes + minimal watch activity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74320" y="1947672"/>
            <a:ext cx="347472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DE9F6"/>
            </a:solidFill>
            <a:prstDash val="solid"/>
          </a:ln>
          <a:effectLst>
            <a:outerShdw blurRad="1524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74320" y="1947672"/>
            <a:ext cx="3474720" cy="256032"/>
          </a:xfrm>
          <a:prstGeom prst="rect">
            <a:avLst/>
          </a:prstGeom>
          <a:solidFill>
            <a:srgbClr val="6B46C1"/>
          </a:solidFill>
          <a:ln/>
        </p:spPr>
      </p:sp>
      <p:sp>
        <p:nvSpPr>
          <p:cNvPr id="11" name="Text 8"/>
          <p:cNvSpPr/>
          <p:nvPr/>
        </p:nvSpPr>
        <p:spPr>
          <a:xfrm>
            <a:off x="320040" y="1965960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Segments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365760" y="2249424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Intentional Viewers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365760" y="2414016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Moderate Explorers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365760" y="2578608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High Browse Fatigue Users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274320" y="2898648"/>
            <a:ext cx="3474720" cy="1325880"/>
          </a:xfrm>
          <a:prstGeom prst="rect">
            <a:avLst/>
          </a:prstGeom>
          <a:solidFill>
            <a:srgbClr val="2D144B"/>
          </a:solidFill>
          <a:ln/>
          <a:effectLst>
            <a:outerShdw blurRad="1524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365760" y="2962656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52.6%</a:t>
            </a:r>
            <a:endParaRPr lang="en-US" sz="3800" dirty="0"/>
          </a:p>
        </p:txBody>
      </p:sp>
      <p:sp>
        <p:nvSpPr>
          <p:cNvPr id="17" name="Text 14"/>
          <p:cNvSpPr/>
          <p:nvPr/>
        </p:nvSpPr>
        <p:spPr>
          <a:xfrm>
            <a:off x="365760" y="3538728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(Browse Fatigue Users)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1874520" y="329184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2514600" y="2962656"/>
            <a:ext cx="1188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9.4%</a:t>
            </a:r>
            <a:endParaRPr lang="en-US" sz="3800" dirty="0"/>
          </a:p>
        </p:txBody>
      </p:sp>
      <p:sp>
        <p:nvSpPr>
          <p:cNvPr id="20" name="Text 17"/>
          <p:cNvSpPr/>
          <p:nvPr/>
        </p:nvSpPr>
        <p:spPr>
          <a:xfrm>
            <a:off x="2514600" y="3538728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3F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B3F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(Intentional Viewers)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274320" y="429768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who endlessly scroll are not engaged — they are experiencing choice paralysis. Browse Fatigue becomes an early warning signal for churn risk.</a:t>
            </a:r>
            <a:endParaRPr lang="en-US" sz="1000" dirty="0"/>
          </a:p>
        </p:txBody>
      </p:sp>
      <p:graphicFrame>
        <p:nvGraphicFramePr>
          <p:cNvPr id="22" name="Chart 0"/>
          <p:cNvGraphicFramePr/>
          <p:nvPr>
            <p:extLst>
              <p:ext uri="{D42A27DB-BD31-4B8C-83A1-F6EECF244321}">
                <p14:modId xmlns:p14="http://schemas.microsoft.com/office/powerpoint/2010/main" val="1649627505"/>
              </p:ext>
            </p:extLst>
          </p:nvPr>
        </p:nvGraphicFramePr>
        <p:xfrm>
          <a:off x="4389120" y="713232"/>
          <a:ext cx="4434840" cy="1965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3" name="Chart 1"/>
          <p:cNvGraphicFramePr/>
          <p:nvPr>
            <p:extLst>
              <p:ext uri="{D42A27DB-BD31-4B8C-83A1-F6EECF244321}">
                <p14:modId xmlns:p14="http://schemas.microsoft.com/office/powerpoint/2010/main" val="3267396586"/>
              </p:ext>
            </p:extLst>
          </p:nvPr>
        </p:nvGraphicFramePr>
        <p:xfrm>
          <a:off x="4389120" y="2834640"/>
          <a:ext cx="4434840" cy="2057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4" name="Text 19"/>
          <p:cNvSpPr/>
          <p:nvPr/>
        </p:nvSpPr>
        <p:spPr>
          <a:xfrm>
            <a:off x="274320" y="489204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StreamSphere Analytics Project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8595360" y="4892040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0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treamsphere_logo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38160" y="73152"/>
            <a:ext cx="914400" cy="3017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109728"/>
            <a:ext cx="7680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D14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Decoding Intent: When and How Users Watch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365760" y="576072"/>
            <a:ext cx="8412480" cy="36576"/>
          </a:xfrm>
          <a:prstGeom prst="rect">
            <a:avLst/>
          </a:prstGeom>
          <a:solidFill>
            <a:srgbClr val="00B4C8"/>
          </a:solidFill>
          <a:ln/>
        </p:spPr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649910226"/>
              </p:ext>
            </p:extLst>
          </p:nvPr>
        </p:nvGraphicFramePr>
        <p:xfrm>
          <a:off x="3931920" y="713232"/>
          <a:ext cx="4892040" cy="2057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Shape 2"/>
          <p:cNvSpPr/>
          <p:nvPr/>
        </p:nvSpPr>
        <p:spPr>
          <a:xfrm>
            <a:off x="274320" y="713232"/>
            <a:ext cx="3474720" cy="2057400"/>
          </a:xfrm>
          <a:prstGeom prst="rect">
            <a:avLst/>
          </a:prstGeom>
          <a:solidFill>
            <a:srgbClr val="FFFFFF"/>
          </a:solidFill>
          <a:ln w="6350">
            <a:solidFill>
              <a:srgbClr val="EDE9F6"/>
            </a:solidFill>
            <a:prstDash val="solid"/>
          </a:ln>
          <a:effectLst>
            <a:outerShdw blurRad="1524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274320" y="713232"/>
            <a:ext cx="3474720" cy="292608"/>
          </a:xfrm>
          <a:prstGeom prst="rect">
            <a:avLst/>
          </a:prstGeom>
          <a:solidFill>
            <a:srgbClr val="2D144B"/>
          </a:solidFill>
          <a:ln/>
        </p:spPr>
      </p:sp>
      <p:sp>
        <p:nvSpPr>
          <p:cNvPr id="8" name="Text 4"/>
          <p:cNvSpPr/>
          <p:nvPr/>
        </p:nvSpPr>
        <p:spPr>
          <a:xfrm>
            <a:off x="320040" y="73152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Analysis Findings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365760" y="107899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Engagement: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457200" y="1335024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Late evenings &amp; weekend nights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457200" y="1536192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Friday &amp; Saturday binge windows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457200" y="1737360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Sustained watch sessions (45–120 min)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365760" y="1956816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Engagement: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457200" y="2212848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Weekday daytime sessions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457200" y="2414016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Fragmented viewing behavior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3931920" y="2880360"/>
            <a:ext cx="489204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DE9F6"/>
            </a:solidFill>
            <a:prstDash val="solid"/>
          </a:ln>
          <a:effectLst>
            <a:outerShdw blurRad="1524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3931920" y="2880360"/>
            <a:ext cx="4892040" cy="274320"/>
          </a:xfrm>
          <a:prstGeom prst="rect">
            <a:avLst/>
          </a:prstGeom>
          <a:solidFill>
            <a:srgbClr val="6B46C1"/>
          </a:solidFill>
          <a:ln/>
        </p:spPr>
      </p:sp>
      <p:sp>
        <p:nvSpPr>
          <p:cNvPr id="18" name="Text 14"/>
          <p:cNvSpPr/>
          <p:nvPr/>
        </p:nvSpPr>
        <p:spPr>
          <a:xfrm>
            <a:off x="3977640" y="2898648"/>
            <a:ext cx="4800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Behavior Analysis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4023360" y="321868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1–3 Pauses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4023360" y="3456432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Intentional continuation • Deep narrative engagement • High completion probability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6373368" y="3218688"/>
            <a:ext cx="36576" cy="1188720"/>
          </a:xfrm>
          <a:prstGeom prst="rect">
            <a:avLst/>
          </a:prstGeom>
          <a:solidFill>
            <a:srgbClr val="D9CFF0"/>
          </a:solidFill>
          <a:ln/>
        </p:spPr>
      </p:sp>
      <p:sp>
        <p:nvSpPr>
          <p:cNvPr id="22" name="Text 18"/>
          <p:cNvSpPr/>
          <p:nvPr/>
        </p:nvSpPr>
        <p:spPr>
          <a:xfrm>
            <a:off x="6492240" y="3218688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4+ Pauses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6492240" y="3456432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Distraction signals • High abandonment probability • Trigger re-engagement prompts</a:t>
            </a:r>
            <a:endParaRPr lang="en-US" sz="950" dirty="0"/>
          </a:p>
        </p:txBody>
      </p:sp>
      <p:sp>
        <p:nvSpPr>
          <p:cNvPr id="24" name="Shape 20"/>
          <p:cNvSpPr/>
          <p:nvPr/>
        </p:nvSpPr>
        <p:spPr>
          <a:xfrm>
            <a:off x="274320" y="2880360"/>
            <a:ext cx="347472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EDE9F6"/>
            </a:solidFill>
            <a:prstDash val="solid"/>
          </a:ln>
          <a:effectLst>
            <a:outerShdw blurRad="1524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274320" y="2880360"/>
            <a:ext cx="3474720" cy="274320"/>
          </a:xfrm>
          <a:prstGeom prst="rect">
            <a:avLst/>
          </a:prstGeom>
          <a:solidFill>
            <a:srgbClr val="00B4C8"/>
          </a:solidFill>
          <a:ln/>
        </p:spPr>
      </p:sp>
      <p:sp>
        <p:nvSpPr>
          <p:cNvPr id="26" name="Text 22"/>
          <p:cNvSpPr/>
          <p:nvPr/>
        </p:nvSpPr>
        <p:spPr>
          <a:xfrm>
            <a:off x="320040" y="2898648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Strategic Action</a:t>
            </a:r>
            <a:endParaRPr lang="en-US" sz="1050" dirty="0"/>
          </a:p>
        </p:txBody>
      </p:sp>
      <p:sp>
        <p:nvSpPr>
          <p:cNvPr id="27" name="Text 23"/>
          <p:cNvSpPr/>
          <p:nvPr/>
        </p:nvSpPr>
        <p:spPr>
          <a:xfrm>
            <a:off x="365760" y="3200400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push notifications &amp; major content drops during Friday evening binge windows.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274320" y="3813048"/>
            <a:ext cx="347472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EDE9F6"/>
            </a:solidFill>
            <a:prstDash val="solid"/>
          </a:ln>
          <a:effectLst>
            <a:outerShdw blurRad="1524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274320" y="3813048"/>
            <a:ext cx="3474720" cy="274320"/>
          </a:xfrm>
          <a:prstGeom prst="rect">
            <a:avLst/>
          </a:prstGeom>
          <a:solidFill>
            <a:srgbClr val="2D144B"/>
          </a:solidFill>
          <a:ln/>
        </p:spPr>
      </p:sp>
      <p:sp>
        <p:nvSpPr>
          <p:cNvPr id="30" name="Text 26"/>
          <p:cNvSpPr/>
          <p:nvPr/>
        </p:nvSpPr>
        <p:spPr>
          <a:xfrm>
            <a:off x="320040" y="3831336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Strategic Action</a:t>
            </a:r>
            <a:endParaRPr lang="en-US" sz="1050" dirty="0"/>
          </a:p>
        </p:txBody>
      </p:sp>
      <p:sp>
        <p:nvSpPr>
          <p:cNvPr id="31" name="Text 27"/>
          <p:cNvSpPr/>
          <p:nvPr/>
        </p:nvSpPr>
        <p:spPr>
          <a:xfrm>
            <a:off x="365760" y="4133088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"Resume Watching?" emails for users who pause content 4+ times mid-session.</a:t>
            </a:r>
            <a:endParaRPr lang="en-US" sz="1000" dirty="0"/>
          </a:p>
        </p:txBody>
      </p:sp>
      <p:sp>
        <p:nvSpPr>
          <p:cNvPr id="32" name="Text 28"/>
          <p:cNvSpPr/>
          <p:nvPr/>
        </p:nvSpPr>
        <p:spPr>
          <a:xfrm>
            <a:off x="274320" y="489204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StreamSphere Analytics Project</a:t>
            </a:r>
            <a:endParaRPr lang="en-US" sz="900" dirty="0"/>
          </a:p>
        </p:txBody>
      </p:sp>
      <p:sp>
        <p:nvSpPr>
          <p:cNvPr id="33" name="Text 29"/>
          <p:cNvSpPr/>
          <p:nvPr/>
        </p:nvSpPr>
        <p:spPr>
          <a:xfrm>
            <a:off x="8595360" y="4892040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0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treamsphere_logo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38160" y="73152"/>
            <a:ext cx="914400" cy="3017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109728"/>
            <a:ext cx="7680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D14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Dashboard: From Metrics to Decisions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365760" y="576072"/>
            <a:ext cx="8412480" cy="36576"/>
          </a:xfrm>
          <a:prstGeom prst="rect">
            <a:avLst/>
          </a:prstGeom>
          <a:solidFill>
            <a:srgbClr val="00B4C8"/>
          </a:solidFill>
          <a:ln/>
        </p:spPr>
      </p:sp>
      <p:sp>
        <p:nvSpPr>
          <p:cNvPr id="5" name="Shape 2"/>
          <p:cNvSpPr/>
          <p:nvPr/>
        </p:nvSpPr>
        <p:spPr>
          <a:xfrm>
            <a:off x="1645920" y="658368"/>
            <a:ext cx="5852160" cy="292608"/>
          </a:xfrm>
          <a:prstGeom prst="roundRect">
            <a:avLst>
              <a:gd name="adj" fmla="val 21875"/>
            </a:avLst>
          </a:prstGeom>
          <a:solidFill>
            <a:srgbClr val="2D144B"/>
          </a:solidFill>
          <a:ln/>
        </p:spPr>
      </p:sp>
      <p:sp>
        <p:nvSpPr>
          <p:cNvPr id="6" name="Text 3"/>
          <p:cNvSpPr/>
          <p:nvPr/>
        </p:nvSpPr>
        <p:spPr>
          <a:xfrm>
            <a:off x="1645920" y="658368"/>
            <a:ext cx="5852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Operationalize engagement intelligence into daily decision-making.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274320" y="1005840"/>
            <a:ext cx="8595360" cy="2880360"/>
          </a:xfrm>
          <a:prstGeom prst="rect">
            <a:avLst/>
          </a:prstGeom>
          <a:solidFill>
            <a:srgbClr val="FFFFFF"/>
          </a:solidFill>
          <a:ln w="6350">
            <a:solidFill>
              <a:srgbClr val="EDE9F6"/>
            </a:solidFill>
            <a:prstDash val="solid"/>
          </a:ln>
          <a:effectLst>
            <a:outerShdw blurRad="1524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8" name="Image 1" descr="/home/claude/streamsphere_logo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840480" y="1097280"/>
            <a:ext cx="1463040" cy="50292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457200" y="1691640"/>
            <a:ext cx="1920240" cy="960120"/>
          </a:xfrm>
          <a:prstGeom prst="rect">
            <a:avLst/>
          </a:prstGeom>
          <a:solidFill>
            <a:srgbClr val="00B4C8"/>
          </a:solidFill>
          <a:ln/>
          <a:effectLst>
            <a:outerShdw blurRad="1524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457200" y="17373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3000" dirty="0"/>
          </a:p>
        </p:txBody>
      </p:sp>
      <p:sp>
        <p:nvSpPr>
          <p:cNvPr id="11" name="Text 7"/>
          <p:cNvSpPr/>
          <p:nvPr/>
        </p:nvSpPr>
        <p:spPr>
          <a:xfrm>
            <a:off x="457200" y="2212848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9C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Users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2606040" y="1691640"/>
            <a:ext cx="1920240" cy="960120"/>
          </a:xfrm>
          <a:prstGeom prst="rect">
            <a:avLst/>
          </a:prstGeom>
          <a:solidFill>
            <a:srgbClr val="6B46C1"/>
          </a:solidFill>
          <a:ln/>
          <a:effectLst>
            <a:outerShdw blurRad="1524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2606040" y="17373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3000" dirty="0"/>
          </a:p>
        </p:txBody>
      </p:sp>
      <p:sp>
        <p:nvSpPr>
          <p:cNvPr id="14" name="Text 10"/>
          <p:cNvSpPr/>
          <p:nvPr/>
        </p:nvSpPr>
        <p:spPr>
          <a:xfrm>
            <a:off x="2606040" y="2212848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9C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Subscriptions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4754880" y="1691640"/>
            <a:ext cx="1920240" cy="960120"/>
          </a:xfrm>
          <a:prstGeom prst="rect">
            <a:avLst/>
          </a:prstGeom>
          <a:solidFill>
            <a:srgbClr val="2D144B"/>
          </a:solidFill>
          <a:ln/>
          <a:effectLst>
            <a:outerShdw blurRad="1524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4754880" y="17373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40.1</a:t>
            </a:r>
            <a:endParaRPr lang="en-US" sz="3000" dirty="0"/>
          </a:p>
        </p:txBody>
      </p:sp>
      <p:sp>
        <p:nvSpPr>
          <p:cNvPr id="17" name="Text 13"/>
          <p:cNvSpPr/>
          <p:nvPr/>
        </p:nvSpPr>
        <p:spPr>
          <a:xfrm>
            <a:off x="4754880" y="2212848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9C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Watch (min)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6903720" y="1691640"/>
            <a:ext cx="1920240" cy="960120"/>
          </a:xfrm>
          <a:prstGeom prst="rect">
            <a:avLst/>
          </a:prstGeom>
          <a:solidFill>
            <a:srgbClr val="38A169"/>
          </a:solidFill>
          <a:ln/>
          <a:effectLst>
            <a:outerShdw blurRad="1524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6903720" y="17373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56%</a:t>
            </a:r>
            <a:endParaRPr lang="en-US" sz="3000" dirty="0"/>
          </a:p>
        </p:txBody>
      </p:sp>
      <p:sp>
        <p:nvSpPr>
          <p:cNvPr id="20" name="Text 16"/>
          <p:cNvSpPr/>
          <p:nvPr/>
        </p:nvSpPr>
        <p:spPr>
          <a:xfrm>
            <a:off x="6903720" y="2212848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9C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 Rate</a:t>
            </a:r>
            <a:endParaRPr lang="en-US" sz="1000" dirty="0"/>
          </a:p>
        </p:txBody>
      </p:sp>
      <p:graphicFrame>
        <p:nvGraphicFramePr>
          <p:cNvPr id="21" name="Chart 0"/>
          <p:cNvGraphicFramePr/>
          <p:nvPr>
            <p:extLst>
              <p:ext uri="{D42A27DB-BD31-4B8C-83A1-F6EECF244321}">
                <p14:modId xmlns:p14="http://schemas.microsoft.com/office/powerpoint/2010/main" val="4179466966"/>
              </p:ext>
            </p:extLst>
          </p:nvPr>
        </p:nvGraphicFramePr>
        <p:xfrm>
          <a:off x="365760" y="2788920"/>
          <a:ext cx="4114800" cy="1051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2" name="Shape 17"/>
          <p:cNvSpPr/>
          <p:nvPr/>
        </p:nvSpPr>
        <p:spPr>
          <a:xfrm>
            <a:off x="4526280" y="2788920"/>
            <a:ext cx="214884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DE9F6"/>
            </a:solidFill>
            <a:prstDash val="solid"/>
          </a:ln>
          <a:effectLst>
            <a:outerShdw blurRad="1524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4526280" y="2788920"/>
            <a:ext cx="2148840" cy="256032"/>
          </a:xfrm>
          <a:prstGeom prst="rect">
            <a:avLst/>
          </a:prstGeom>
          <a:solidFill>
            <a:srgbClr val="6B46C1"/>
          </a:solidFill>
          <a:ln/>
        </p:spPr>
      </p:sp>
      <p:sp>
        <p:nvSpPr>
          <p:cNvPr id="24" name="Text 19"/>
          <p:cNvSpPr/>
          <p:nvPr/>
        </p:nvSpPr>
        <p:spPr>
          <a:xfrm>
            <a:off x="4544568" y="2807208"/>
            <a:ext cx="21122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Status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4617720" y="3090672"/>
            <a:ext cx="960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2600" dirty="0"/>
          </a:p>
        </p:txBody>
      </p:sp>
      <p:sp>
        <p:nvSpPr>
          <p:cNvPr id="26" name="Text 21"/>
          <p:cNvSpPr/>
          <p:nvPr/>
        </p:nvSpPr>
        <p:spPr>
          <a:xfrm>
            <a:off x="4617720" y="3474720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5532120" y="3090672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2600" dirty="0"/>
          </a:p>
        </p:txBody>
      </p:sp>
      <p:sp>
        <p:nvSpPr>
          <p:cNvPr id="28" name="Text 23"/>
          <p:cNvSpPr/>
          <p:nvPr/>
        </p:nvSpPr>
        <p:spPr>
          <a:xfrm>
            <a:off x="5532120" y="3474720"/>
            <a:ext cx="1051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Cancelled</a:t>
            </a:r>
            <a:endParaRPr lang="en-US" sz="900" dirty="0"/>
          </a:p>
        </p:txBody>
      </p:sp>
      <p:sp>
        <p:nvSpPr>
          <p:cNvPr id="29" name="Shape 24"/>
          <p:cNvSpPr/>
          <p:nvPr/>
        </p:nvSpPr>
        <p:spPr>
          <a:xfrm>
            <a:off x="6812280" y="2788920"/>
            <a:ext cx="205740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DE9F6"/>
            </a:solidFill>
            <a:prstDash val="solid"/>
          </a:ln>
          <a:effectLst>
            <a:outerShdw blurRad="1524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6812280" y="2788920"/>
            <a:ext cx="2057400" cy="256032"/>
          </a:xfrm>
          <a:prstGeom prst="rect">
            <a:avLst/>
          </a:prstGeom>
          <a:solidFill>
            <a:srgbClr val="2D144B"/>
          </a:solidFill>
          <a:ln/>
        </p:spPr>
      </p:sp>
      <p:sp>
        <p:nvSpPr>
          <p:cNvPr id="31" name="Text 26"/>
          <p:cNvSpPr/>
          <p:nvPr/>
        </p:nvSpPr>
        <p:spPr>
          <a:xfrm>
            <a:off x="6830568" y="2807208"/>
            <a:ext cx="20208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 Friction</a:t>
            </a:r>
            <a:endParaRPr lang="en-US" sz="900" dirty="0"/>
          </a:p>
        </p:txBody>
      </p:sp>
      <p:sp>
        <p:nvSpPr>
          <p:cNvPr id="32" name="Text 27"/>
          <p:cNvSpPr/>
          <p:nvPr/>
        </p:nvSpPr>
        <p:spPr>
          <a:xfrm>
            <a:off x="6876288" y="310896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Browsed Category:</a:t>
            </a:r>
            <a:endParaRPr lang="en-US" sz="900" dirty="0"/>
          </a:p>
        </p:txBody>
      </p:sp>
      <p:sp>
        <p:nvSpPr>
          <p:cNvPr id="33" name="Text 28"/>
          <p:cNvSpPr/>
          <p:nvPr/>
        </p:nvSpPr>
        <p:spPr>
          <a:xfrm>
            <a:off x="8275320" y="310896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34" name="Text 29"/>
          <p:cNvSpPr/>
          <p:nvPr/>
        </p:nvSpPr>
        <p:spPr>
          <a:xfrm>
            <a:off x="6876288" y="3328416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Clicked Rec.:</a:t>
            </a:r>
            <a:endParaRPr lang="en-US" sz="900" dirty="0"/>
          </a:p>
        </p:txBody>
      </p:sp>
      <p:sp>
        <p:nvSpPr>
          <p:cNvPr id="35" name="Text 30"/>
          <p:cNvSpPr/>
          <p:nvPr/>
        </p:nvSpPr>
        <p:spPr>
          <a:xfrm>
            <a:off x="8275320" y="3328416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36" name="Text 31"/>
          <p:cNvSpPr/>
          <p:nvPr/>
        </p:nvSpPr>
        <p:spPr>
          <a:xfrm>
            <a:off x="6876288" y="3547872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Searched Title:</a:t>
            </a:r>
            <a:endParaRPr lang="en-US" sz="900" dirty="0"/>
          </a:p>
        </p:txBody>
      </p:sp>
      <p:sp>
        <p:nvSpPr>
          <p:cNvPr id="37" name="Text 32"/>
          <p:cNvSpPr/>
          <p:nvPr/>
        </p:nvSpPr>
        <p:spPr>
          <a:xfrm>
            <a:off x="8275320" y="3547872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38" name="Shape 33"/>
          <p:cNvSpPr/>
          <p:nvPr/>
        </p:nvSpPr>
        <p:spPr>
          <a:xfrm>
            <a:off x="274320" y="3931920"/>
            <a:ext cx="411480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DE9F6"/>
            </a:solidFill>
            <a:prstDash val="solid"/>
          </a:ln>
          <a:effectLst>
            <a:outerShdw blurRad="1524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9" name="Shape 34"/>
          <p:cNvSpPr/>
          <p:nvPr/>
        </p:nvSpPr>
        <p:spPr>
          <a:xfrm>
            <a:off x="274320" y="3931920"/>
            <a:ext cx="4114800" cy="256032"/>
          </a:xfrm>
          <a:prstGeom prst="rect">
            <a:avLst/>
          </a:prstGeom>
          <a:solidFill>
            <a:srgbClr val="00B4C8"/>
          </a:solidFill>
          <a:ln/>
        </p:spPr>
      </p:sp>
      <p:sp>
        <p:nvSpPr>
          <p:cNvPr id="40" name="Text 35"/>
          <p:cNvSpPr/>
          <p:nvPr/>
        </p:nvSpPr>
        <p:spPr>
          <a:xfrm>
            <a:off x="320040" y="3950208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Tool — Retention Managers</a:t>
            </a:r>
            <a:endParaRPr lang="en-US" sz="1000" dirty="0"/>
          </a:p>
        </p:txBody>
      </p:sp>
      <p:sp>
        <p:nvSpPr>
          <p:cNvPr id="41" name="Text 36"/>
          <p:cNvSpPr/>
          <p:nvPr/>
        </p:nvSpPr>
        <p:spPr>
          <a:xfrm>
            <a:off x="365760" y="4233672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Monitor Browse Fatigue spikes  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 Identify churn-risk users  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Trigger retention campaigns before cancellation</a:t>
            </a:r>
            <a:endParaRPr lang="en-US" sz="950" dirty="0"/>
          </a:p>
        </p:txBody>
      </p:sp>
      <p:sp>
        <p:nvSpPr>
          <p:cNvPr id="42" name="Shape 37"/>
          <p:cNvSpPr/>
          <p:nvPr/>
        </p:nvSpPr>
        <p:spPr>
          <a:xfrm>
            <a:off x="4572000" y="3931920"/>
            <a:ext cx="429768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DE9F6"/>
            </a:solidFill>
            <a:prstDash val="solid"/>
          </a:ln>
          <a:effectLst>
            <a:outerShdw blurRad="1524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3" name="Shape 38"/>
          <p:cNvSpPr/>
          <p:nvPr/>
        </p:nvSpPr>
        <p:spPr>
          <a:xfrm>
            <a:off x="4572000" y="3931920"/>
            <a:ext cx="4297680" cy="256032"/>
          </a:xfrm>
          <a:prstGeom prst="rect">
            <a:avLst/>
          </a:prstGeom>
          <a:solidFill>
            <a:srgbClr val="2D144B"/>
          </a:solidFill>
          <a:ln/>
        </p:spPr>
      </p:sp>
      <p:sp>
        <p:nvSpPr>
          <p:cNvPr id="44" name="Text 39"/>
          <p:cNvSpPr/>
          <p:nvPr/>
        </p:nvSpPr>
        <p:spPr>
          <a:xfrm>
            <a:off x="4617720" y="3950208"/>
            <a:ext cx="4206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Tool — Content Teams</a:t>
            </a:r>
            <a:endParaRPr lang="en-US" sz="1000" dirty="0"/>
          </a:p>
        </p:txBody>
      </p:sp>
      <p:sp>
        <p:nvSpPr>
          <p:cNvPr id="45" name="Text 40"/>
          <p:cNvSpPr/>
          <p:nvPr/>
        </p:nvSpPr>
        <p:spPr>
          <a:xfrm>
            <a:off x="4617720" y="4233672"/>
            <a:ext cx="416052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Identify high-retention Tier 3 content  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Optimize promotion strategy  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Allocate marketing budget efficiently</a:t>
            </a:r>
            <a:endParaRPr lang="en-US" sz="950" dirty="0"/>
          </a:p>
        </p:txBody>
      </p:sp>
      <p:sp>
        <p:nvSpPr>
          <p:cNvPr id="46" name="Text 41"/>
          <p:cNvSpPr/>
          <p:nvPr/>
        </p:nvSpPr>
        <p:spPr>
          <a:xfrm>
            <a:off x="274320" y="489204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StreamSphere Analytics Project</a:t>
            </a:r>
            <a:endParaRPr lang="en-US" sz="900" dirty="0"/>
          </a:p>
        </p:txBody>
      </p:sp>
      <p:sp>
        <p:nvSpPr>
          <p:cNvPr id="47" name="Text 42"/>
          <p:cNvSpPr/>
          <p:nvPr/>
        </p:nvSpPr>
        <p:spPr>
          <a:xfrm>
            <a:off x="8595360" y="4892040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82924F4B-E692-0E08-2589-E488B82B21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2280" y="2780357"/>
            <a:ext cx="2057400" cy="105156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0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treamsphere_logo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38160" y="73152"/>
            <a:ext cx="914400" cy="3017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109728"/>
            <a:ext cx="7680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D14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Recommendations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365760" y="576072"/>
            <a:ext cx="8412480" cy="36576"/>
          </a:xfrm>
          <a:prstGeom prst="rect">
            <a:avLst/>
          </a:prstGeom>
          <a:solidFill>
            <a:srgbClr val="00B4C8"/>
          </a:solidFill>
          <a:ln/>
        </p:spPr>
      </p:sp>
      <p:sp>
        <p:nvSpPr>
          <p:cNvPr id="5" name="Shape 2"/>
          <p:cNvSpPr/>
          <p:nvPr/>
        </p:nvSpPr>
        <p:spPr>
          <a:xfrm>
            <a:off x="274320" y="749808"/>
            <a:ext cx="420624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DE9F6"/>
            </a:solidFill>
            <a:prstDash val="solid"/>
          </a:ln>
          <a:effectLst>
            <a:outerShdw blurRad="1524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74320" y="749808"/>
            <a:ext cx="73152" cy="1783080"/>
          </a:xfrm>
          <a:prstGeom prst="rect">
            <a:avLst/>
          </a:prstGeom>
          <a:solidFill>
            <a:srgbClr val="00B4C8"/>
          </a:solidFill>
          <a:ln/>
        </p:spPr>
      </p:sp>
      <p:sp>
        <p:nvSpPr>
          <p:cNvPr id="7" name="Text 4"/>
          <p:cNvSpPr/>
          <p:nvPr/>
        </p:nvSpPr>
        <p:spPr>
          <a:xfrm>
            <a:off x="411480" y="841248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6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0" y="978408"/>
            <a:ext cx="594360" cy="5943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11480" y="134416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14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Redefine Success Metrics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11480" y="1700784"/>
            <a:ext cx="3886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KPI focus from Raw Views to Start-to-Completion Ratio. Completion quality signals true content value.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4709160" y="749808"/>
            <a:ext cx="420624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DE9F6"/>
            </a:solidFill>
            <a:prstDash val="solid"/>
          </a:ln>
          <a:effectLst>
            <a:outerShdw blurRad="1524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709160" y="749808"/>
            <a:ext cx="73152" cy="1783080"/>
          </a:xfrm>
          <a:prstGeom prst="rect">
            <a:avLst/>
          </a:prstGeom>
          <a:solidFill>
            <a:srgbClr val="6B46C1"/>
          </a:solidFill>
          <a:ln/>
        </p:spPr>
      </p:sp>
      <p:sp>
        <p:nvSpPr>
          <p:cNvPr id="13" name="Text 9"/>
          <p:cNvSpPr/>
          <p:nvPr/>
        </p:nvSpPr>
        <p:spPr>
          <a:xfrm>
            <a:off x="4846320" y="841248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6B4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2440" y="978408"/>
            <a:ext cx="594360" cy="5943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846320" y="134416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14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Re-Weight Recommendation Algorithms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4846320" y="1700784"/>
            <a:ext cx="3886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retention quality and sustained engagement instead of raw click-through. 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274320" y="2761488"/>
            <a:ext cx="420624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DE9F6"/>
            </a:solidFill>
            <a:prstDash val="solid"/>
          </a:ln>
          <a:effectLst>
            <a:outerShdw blurRad="1524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274320" y="2761488"/>
            <a:ext cx="73152" cy="1783080"/>
          </a:xfrm>
          <a:prstGeom prst="rect">
            <a:avLst/>
          </a:prstGeom>
          <a:solidFill>
            <a:srgbClr val="00B4C8"/>
          </a:solidFill>
          <a:ln/>
        </p:spPr>
      </p:sp>
      <p:sp>
        <p:nvSpPr>
          <p:cNvPr id="19" name="Text 14"/>
          <p:cNvSpPr/>
          <p:nvPr/>
        </p:nvSpPr>
        <p:spPr>
          <a:xfrm>
            <a:off x="411480" y="2852928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0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600" y="2990088"/>
            <a:ext cx="594360" cy="5943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11480" y="335584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14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Real-Time UI Interventions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411480" y="3712464"/>
            <a:ext cx="3886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localized "Surprise Me" prompts when browse time exceeds 10 minutes to combat choice paralysis.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4709160" y="2761488"/>
            <a:ext cx="420624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DE9F6"/>
            </a:solidFill>
            <a:prstDash val="solid"/>
          </a:ln>
          <a:effectLst>
            <a:outerShdw blurRad="1524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4709160" y="2761488"/>
            <a:ext cx="73152" cy="1783080"/>
          </a:xfrm>
          <a:prstGeom prst="rect">
            <a:avLst/>
          </a:prstGeom>
          <a:solidFill>
            <a:srgbClr val="6B46C1"/>
          </a:solidFill>
          <a:ln/>
        </p:spPr>
      </p:sp>
      <p:sp>
        <p:nvSpPr>
          <p:cNvPr id="25" name="Text 19"/>
          <p:cNvSpPr/>
          <p:nvPr/>
        </p:nvSpPr>
        <p:spPr>
          <a:xfrm>
            <a:off x="4846320" y="2852928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6B4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600" dirty="0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92440" y="2990088"/>
            <a:ext cx="594360" cy="5943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846320" y="335584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14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Content Acquisition Strategy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4846320" y="3712464"/>
            <a:ext cx="3886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regional niche content and high-retention titles over heavily marketed low-retention content.</a:t>
            </a:r>
            <a:endParaRPr lang="en-US" sz="1050" dirty="0"/>
          </a:p>
        </p:txBody>
      </p:sp>
      <p:sp>
        <p:nvSpPr>
          <p:cNvPr id="29" name="Text 22"/>
          <p:cNvSpPr/>
          <p:nvPr/>
        </p:nvSpPr>
        <p:spPr>
          <a:xfrm>
            <a:off x="274320" y="489204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StreamSphere Analytics Project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8595360" y="4892040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D14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F4F0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572000" cy="64008"/>
          </a:xfrm>
          <a:prstGeom prst="rect">
            <a:avLst/>
          </a:prstGeom>
          <a:solidFill>
            <a:srgbClr val="00B4C8"/>
          </a:solidFill>
          <a:ln/>
        </p:spPr>
      </p:sp>
      <p:pic>
        <p:nvPicPr>
          <p:cNvPr id="4" name="Image 0" descr="/home/claude/streamsphere_logo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38160" y="73152"/>
            <a:ext cx="914400" cy="3017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0040" y="1828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D14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 &amp; Conclusion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274320" y="749808"/>
            <a:ext cx="406908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DE9F6"/>
            </a:solidFill>
            <a:prstDash val="solid"/>
          </a:ln>
          <a:effectLst>
            <a:outerShdw blurRad="1524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74320" y="749808"/>
            <a:ext cx="4069080" cy="301752"/>
          </a:xfrm>
          <a:prstGeom prst="rect">
            <a:avLst/>
          </a:prstGeom>
          <a:solidFill>
            <a:srgbClr val="6B46C1"/>
          </a:solidFill>
          <a:ln/>
        </p:spPr>
      </p:sp>
      <p:sp>
        <p:nvSpPr>
          <p:cNvPr id="8" name="Text 5"/>
          <p:cNvSpPr/>
          <p:nvPr/>
        </p:nvSpPr>
        <p:spPr>
          <a:xfrm>
            <a:off x="320040" y="768096"/>
            <a:ext cx="397764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2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1152144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13232" y="111556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14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Churn Models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713232" y="1408176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ML-based early warning system identifying at-risk subscribers 30 days before cancellation.</a:t>
            </a:r>
            <a:endParaRPr lang="en-US" sz="9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1920240"/>
            <a:ext cx="274320" cy="27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13232" y="188366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14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Analytics Pipeline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713232" y="2176272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engagement scoring enabling same-session intervention triggers.</a:t>
            </a:r>
            <a:endParaRPr lang="en-US" sz="9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60" y="2688336"/>
            <a:ext cx="274320" cy="27432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13232" y="26517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14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Recommendations</a:t>
            </a:r>
            <a:endParaRPr lang="en-US" sz="1100" dirty="0"/>
          </a:p>
        </p:txBody>
      </p:sp>
      <p:sp>
        <p:nvSpPr>
          <p:cNvPr id="17" name="Text 11"/>
          <p:cNvSpPr/>
          <p:nvPr/>
        </p:nvSpPr>
        <p:spPr>
          <a:xfrm>
            <a:off x="713232" y="2944368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 engine adapting to time-of-day, device, and historical completion patterns.</a:t>
            </a:r>
            <a:endParaRPr lang="en-US" sz="95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5760" y="3456432"/>
            <a:ext cx="274320" cy="27432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713232" y="341985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14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User Segmentation</a:t>
            </a:r>
            <a:endParaRPr lang="en-US" sz="1100" dirty="0"/>
          </a:p>
        </p:txBody>
      </p:sp>
      <p:sp>
        <p:nvSpPr>
          <p:cNvPr id="20" name="Text 13"/>
          <p:cNvSpPr/>
          <p:nvPr/>
        </p:nvSpPr>
        <p:spPr>
          <a:xfrm>
            <a:off x="713232" y="3712464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re-clustering based on behavioral drift across subscription lifecycle.</a:t>
            </a:r>
            <a:endParaRPr lang="en-US" sz="950" dirty="0"/>
          </a:p>
        </p:txBody>
      </p:sp>
      <p:sp>
        <p:nvSpPr>
          <p:cNvPr id="21" name="Text 14"/>
          <p:cNvSpPr/>
          <p:nvPr/>
        </p:nvSpPr>
        <p:spPr>
          <a:xfrm>
            <a:off x="4754880" y="10058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FROM: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4754880" y="1325880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 see what users are doing"</a:t>
            </a:r>
            <a:endParaRPr lang="en-US" sz="2000" dirty="0"/>
          </a:p>
        </p:txBody>
      </p:sp>
      <p:sp>
        <p:nvSpPr>
          <p:cNvPr id="23" name="Shape 16"/>
          <p:cNvSpPr/>
          <p:nvPr/>
        </p:nvSpPr>
        <p:spPr>
          <a:xfrm>
            <a:off x="6217920" y="2029968"/>
            <a:ext cx="365760" cy="64008"/>
          </a:xfrm>
          <a:prstGeom prst="rect">
            <a:avLst/>
          </a:prstGeom>
          <a:solidFill>
            <a:srgbClr val="00B4C8"/>
          </a:solidFill>
          <a:ln/>
        </p:spPr>
      </p:sp>
      <p:sp>
        <p:nvSpPr>
          <p:cNvPr id="24" name="Text 17"/>
          <p:cNvSpPr/>
          <p:nvPr/>
        </p:nvSpPr>
        <p:spPr>
          <a:xfrm>
            <a:off x="4754880" y="19202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2800" dirty="0"/>
          </a:p>
        </p:txBody>
      </p:sp>
      <p:sp>
        <p:nvSpPr>
          <p:cNvPr id="25" name="Text 18"/>
          <p:cNvSpPr/>
          <p:nvPr/>
        </p:nvSpPr>
        <p:spPr>
          <a:xfrm>
            <a:off x="4754880" y="245059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TO:</a:t>
            </a:r>
            <a:endParaRPr lang="en-US" sz="1300" dirty="0"/>
          </a:p>
        </p:txBody>
      </p:sp>
      <p:sp>
        <p:nvSpPr>
          <p:cNvPr id="26" name="Text 19"/>
          <p:cNvSpPr/>
          <p:nvPr/>
        </p:nvSpPr>
        <p:spPr>
          <a:xfrm>
            <a:off x="4754880" y="2779776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i="1" dirty="0">
                <a:solidFill>
                  <a:srgbClr val="0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 understand WHY they are doing it"</a:t>
            </a:r>
            <a:endParaRPr lang="en-US" sz="2000" dirty="0"/>
          </a:p>
        </p:txBody>
      </p:sp>
      <p:sp>
        <p:nvSpPr>
          <p:cNvPr id="27" name="Shape 20"/>
          <p:cNvSpPr/>
          <p:nvPr/>
        </p:nvSpPr>
        <p:spPr>
          <a:xfrm>
            <a:off x="0" y="4434840"/>
            <a:ext cx="9144000" cy="708660"/>
          </a:xfrm>
          <a:prstGeom prst="rect">
            <a:avLst/>
          </a:prstGeom>
          <a:solidFill>
            <a:srgbClr val="0D0520"/>
          </a:solidFill>
          <a:ln/>
        </p:spPr>
      </p:sp>
      <p:sp>
        <p:nvSpPr>
          <p:cNvPr id="28" name="Shape 21"/>
          <p:cNvSpPr/>
          <p:nvPr/>
        </p:nvSpPr>
        <p:spPr>
          <a:xfrm>
            <a:off x="0" y="4434840"/>
            <a:ext cx="9144000" cy="45720"/>
          </a:xfrm>
          <a:prstGeom prst="rect">
            <a:avLst/>
          </a:prstGeom>
          <a:solidFill>
            <a:srgbClr val="00B4C8"/>
          </a:solidFill>
          <a:ln/>
        </p:spPr>
      </p:sp>
      <p:sp>
        <p:nvSpPr>
          <p:cNvPr id="29" name="Text 22"/>
          <p:cNvSpPr/>
          <p:nvPr/>
        </p:nvSpPr>
        <p:spPr>
          <a:xfrm>
            <a:off x="365760" y="449884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Transforming interaction data into engagement intelligence, retention strategy, and business decision support.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320040" y="431596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31" name="Text 24"/>
          <p:cNvSpPr/>
          <p:nvPr/>
        </p:nvSpPr>
        <p:spPr>
          <a:xfrm>
            <a:off x="8595360" y="4315968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pic>
        <p:nvPicPr>
          <p:cNvPr id="32" name="Image 2" descr="preencoded.png">
            <a:extLst>
              <a:ext uri="{FF2B5EF4-FFF2-40B4-BE49-F238E27FC236}">
                <a16:creationId xmlns:a16="http://schemas.microsoft.com/office/drawing/2014/main" id="{E2F55F6B-A94F-E2E4-522A-01EBC06EFB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1248156"/>
            <a:ext cx="274320" cy="274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2760</Words>
  <Application>Microsoft Office PowerPoint</Application>
  <PresentationFormat>On-screen Show (16:9)</PresentationFormat>
  <Paragraphs>613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StreamSphere: The Engagement Puzzle</dc:title>
  <dc:subject>PptxGenJS Presentation</dc:subject>
  <dc:creator>StreamSphere Analytics</dc:creator>
  <cp:lastModifiedBy>ALEX ABRAHAM</cp:lastModifiedBy>
  <cp:revision>3</cp:revision>
  <dcterms:created xsi:type="dcterms:W3CDTF">2026-05-06T09:12:56Z</dcterms:created>
  <dcterms:modified xsi:type="dcterms:W3CDTF">2026-05-06T11:25:06Z</dcterms:modified>
</cp:coreProperties>
</file>